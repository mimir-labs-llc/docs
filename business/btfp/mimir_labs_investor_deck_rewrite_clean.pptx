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40"/>
    <p:sldId id="257" r:id="rId41"/>
    <p:sldId id="258" r:id="rId42"/>
    <p:sldId id="259" r:id="rId43"/>
    <p:sldId id="260" r:id="rId44"/>
    <p:sldId id="261" r:id="rId45"/>
    <p:sldId id="262" r:id="rId46"/>
    <p:sldId id="263" r:id="rId47"/>
    <p:sldId id="264" r:id="rId48"/>
    <p:sldId id="270" r:id="rId49"/>
    <p:sldId id="265" r:id="rId50"/>
    <p:sldId id="266" r:id="rId51"/>
    <p:sldId id="271" r:id="rId52"/>
    <p:sldId id="268" r:id="rId53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— 323 tables, 10 modules, OPE governance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pilot — OPE plugin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  <p:sp>
        <p:nvSpPr>
          <p:cNvPr id="21" name="Funnel TAM"/>
          <p:cNvSpPr/>
          <p:nvPr/>
        </p:nvSpPr>
        <p:spPr>
          <a:xfrm>
            <a:off x="1065276" y="1417320"/>
            <a:ext cx="10058400" cy="1005840"/>
          </a:xfrm>
          <a:prstGeom prst="roundRect">
            <a:avLst>
              <a:gd name="adj" fmla="val 8000"/>
            </a:avLst>
          </a:prstGeom>
          <a:solidFill>
            <a:srgbClr val="0F2235">
              <a:alpha val="95000"/>
            </a:srgbClr>
          </a:solidFill>
          <a:ln w="19050">
            <a:solidFill>
              <a:srgbClr val="2B5A77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$10B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TAM — Global manufacturing ERP • 8–10% CAGR through 2030 • $281B full ERP by 2034</a:t>
            </a:r>
          </a:p>
        </p:txBody>
      </p:sp>
      <p:sp>
        <p:nvSpPr>
          <p:cNvPr id="22" name="Funnel SAM"/>
          <p:cNvSpPr/>
          <p:nvPr/>
        </p:nvSpPr>
        <p:spPr>
          <a:xfrm>
            <a:off x="2894076" y="2606040"/>
            <a:ext cx="6400800" cy="1005840"/>
          </a:xfrm>
          <a:prstGeom prst="roundRect">
            <a:avLst>
              <a:gd name="adj" fmla="val 8000"/>
            </a:avLst>
          </a:prstGeom>
          <a:solidFill>
            <a:srgbClr val="13344F">
              <a:alpha val="95000"/>
            </a:srgbClr>
          </a:solidFill>
          <a:ln w="19050">
            <a:solidFill>
              <a:srgbClr val="2B5A77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~$3.5B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SAM — Mid-market manufacturing, 10–500 employees, US + EU • AS9100 / CMMC / ISO / ITAR</a:t>
            </a:r>
          </a:p>
        </p:txBody>
      </p:sp>
      <p:sp>
        <p:nvSpPr>
          <p:cNvPr id="23" name="Funnel SOM"/>
          <p:cNvSpPr/>
          <p:nvPr/>
        </p:nvSpPr>
        <p:spPr>
          <a:xfrm>
            <a:off x="4494276" y="379476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A4F6E">
              <a:alpha val="95000"/>
            </a:srgbClr>
          </a:solidFill>
          <a:ln w="19050">
            <a:solidFill>
              <a:srgbClr val="2DE2D1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~$160M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SOM — PA + adjacent, 3,500 shops • Target 50–150 by Year 5</a:t>
            </a:r>
          </a:p>
        </p:txBody>
      </p:sp>
      <p:sp>
        <p:nvSpPr>
          <p:cNvPr id="200" name="Beachhead Label"/>
          <p:cNvSpPr/>
          <p:nvPr/>
        </p:nvSpPr>
        <p:spPr>
          <a:xfrm>
            <a:off x="996696" y="4983480"/>
            <a:ext cx="2194560" cy="5029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9BED0"/>
                </a:solidFill>
                <a:latin typeface="Aptos" pitchFamily="34" charset="0"/>
              </a:rPr>
              <a:t>BEACHHEAD  </a:t>
            </a:r>
            <a:r>
              <a:rPr lang="en-US" sz="2000" b="1" dirty="0">
                <a:solidFill>
                  <a:srgbClr val="2DE2D1"/>
                </a:solidFill>
                <a:latin typeface="Aptos" pitchFamily="34" charset="0"/>
              </a:rPr>
              <a:t>→</a:t>
            </a:r>
          </a:p>
        </p:txBody>
      </p:sp>
      <p:sp>
        <p:nvSpPr>
          <p:cNvPr id="201" name="State_OH"/>
          <p:cNvSpPr/>
          <p:nvPr/>
        </p:nvSpPr>
        <p:spPr>
          <a:xfrm>
            <a:off x="32826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3344F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OH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~600</a:t>
            </a:r>
          </a:p>
        </p:txBody>
      </p:sp>
      <p:sp>
        <p:nvSpPr>
          <p:cNvPr id="202" name="State_PA"/>
          <p:cNvSpPr/>
          <p:nvPr/>
        </p:nvSpPr>
        <p:spPr>
          <a:xfrm>
            <a:off x="48828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A4F6E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PA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~1,400</a:t>
            </a:r>
          </a:p>
        </p:txBody>
      </p:sp>
      <p:sp>
        <p:nvSpPr>
          <p:cNvPr id="203" name="State_NY"/>
          <p:cNvSpPr/>
          <p:nvPr/>
        </p:nvSpPr>
        <p:spPr>
          <a:xfrm>
            <a:off x="64830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3344F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NY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~500</a:t>
            </a:r>
          </a:p>
        </p:txBody>
      </p:sp>
      <p:sp>
        <p:nvSpPr>
          <p:cNvPr id="204" name="State_NJ"/>
          <p:cNvSpPr/>
          <p:nvPr/>
        </p:nvSpPr>
        <p:spPr>
          <a:xfrm>
            <a:off x="80832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3344F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NJ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~600</a:t>
            </a:r>
          </a:p>
        </p:txBody>
      </p:sp>
      <p:sp>
        <p:nvSpPr>
          <p:cNvPr id="205" name="State_MD"/>
          <p:cNvSpPr/>
          <p:nvPr/>
        </p:nvSpPr>
        <p:spPr>
          <a:xfrm>
            <a:off x="96834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3344F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MD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~400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  <p:sp>
        <p:nvSpPr>
          <p:cNvPr id="100" name="ChartXAxis"/>
          <p:cNvSpPr/>
          <p:nvPr/>
        </p:nvSpPr>
        <p:spPr>
          <a:xfrm>
            <a:off x="1371600" y="4846320"/>
            <a:ext cx="10058400" cy="0"/>
          </a:xfrm>
          <a:prstGeom prst="line">
            <a:avLst/>
          </a:prstGeom>
          <a:ln w="12700">
            <a:solidFill>
              <a:srgbClr val="6F889D"/>
            </a:solidFill>
            <a:prstDash val="solid"/>
          </a:ln>
        </p:spPr>
      </p:sp>
      <p:sp>
        <p:nvSpPr>
          <p:cNvPr id="101" name="ChartYAxis"/>
          <p:cNvSpPr/>
          <p:nvPr/>
        </p:nvSpPr>
        <p:spPr>
          <a:xfrm>
            <a:off x="1371600" y="1874520"/>
            <a:ext cx="0" cy="2971800"/>
          </a:xfrm>
          <a:prstGeom prst="line">
            <a:avLst/>
          </a:prstGeom>
          <a:ln w="12700">
            <a:solidFill>
              <a:srgbClr val="6F889D"/>
            </a:solidFill>
            <a:prstDash val="solid"/>
          </a:ln>
        </p:spPr>
      </p:sp>
      <p:sp>
        <p:nvSpPr>
          <p:cNvPr id="102" name="Grid5M"/>
          <p:cNvSpPr/>
          <p:nvPr/>
        </p:nvSpPr>
        <p:spPr>
          <a:xfrm>
            <a:off x="1371600" y="4103370"/>
            <a:ext cx="10058400" cy="0"/>
          </a:xfrm>
          <a:prstGeom prst="line">
            <a:avLst/>
          </a:prstGeom>
          <a:ln w="6350">
            <a:solidFill>
              <a:srgbClr val="244A65"/>
            </a:solidFill>
            <a:prstDash val="solid"/>
          </a:ln>
        </p:spPr>
      </p:sp>
      <p:sp>
        <p:nvSpPr>
          <p:cNvPr id="103" name="YLabel5"/>
          <p:cNvSpPr/>
          <p:nvPr/>
        </p:nvSpPr>
        <p:spPr>
          <a:xfrm>
            <a:off x="594360" y="3984498"/>
            <a:ext cx="685800" cy="23774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F889D"/>
                </a:solidFill>
                <a:latin typeface="Aptos" pitchFamily="34" charset="0"/>
              </a:rPr>
              <a:t>$5M</a:t>
            </a:r>
          </a:p>
        </p:txBody>
      </p:sp>
      <p:sp>
        <p:nvSpPr>
          <p:cNvPr id="104" name="Grid10M"/>
          <p:cNvSpPr/>
          <p:nvPr/>
        </p:nvSpPr>
        <p:spPr>
          <a:xfrm>
            <a:off x="1371600" y="3360420"/>
            <a:ext cx="10058400" cy="0"/>
          </a:xfrm>
          <a:prstGeom prst="line">
            <a:avLst/>
          </a:prstGeom>
          <a:ln w="6350">
            <a:solidFill>
              <a:srgbClr val="244A65"/>
            </a:solidFill>
            <a:prstDash val="solid"/>
          </a:ln>
        </p:spPr>
      </p:sp>
      <p:sp>
        <p:nvSpPr>
          <p:cNvPr id="105" name="YLabel10"/>
          <p:cNvSpPr/>
          <p:nvPr/>
        </p:nvSpPr>
        <p:spPr>
          <a:xfrm>
            <a:off x="594360" y="3241548"/>
            <a:ext cx="685800" cy="23774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F889D"/>
                </a:solidFill>
                <a:latin typeface="Aptos" pitchFamily="34" charset="0"/>
              </a:rPr>
              <a:t>$10M</a:t>
            </a:r>
          </a:p>
        </p:txBody>
      </p:sp>
      <p:sp>
        <p:nvSpPr>
          <p:cNvPr id="106" name="Grid15M"/>
          <p:cNvSpPr/>
          <p:nvPr/>
        </p:nvSpPr>
        <p:spPr>
          <a:xfrm>
            <a:off x="1371600" y="2617470"/>
            <a:ext cx="10058400" cy="0"/>
          </a:xfrm>
          <a:prstGeom prst="line">
            <a:avLst/>
          </a:prstGeom>
          <a:ln w="6350">
            <a:solidFill>
              <a:srgbClr val="244A65"/>
            </a:solidFill>
            <a:prstDash val="solid"/>
          </a:ln>
        </p:spPr>
      </p:sp>
      <p:sp>
        <p:nvSpPr>
          <p:cNvPr id="107" name="YLabel15"/>
          <p:cNvSpPr/>
          <p:nvPr/>
        </p:nvSpPr>
        <p:spPr>
          <a:xfrm>
            <a:off x="594360" y="2498598"/>
            <a:ext cx="685800" cy="23774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F889D"/>
                </a:solidFill>
                <a:latin typeface="Aptos" pitchFamily="34" charset="0"/>
              </a:rPr>
              <a:t>$15M</a:t>
            </a:r>
          </a:p>
        </p:txBody>
      </p:sp>
      <p:sp>
        <p:nvSpPr>
          <p:cNvPr id="108" name="YLabel0"/>
          <p:cNvSpPr/>
          <p:nvPr/>
        </p:nvSpPr>
        <p:spPr>
          <a:xfrm>
            <a:off x="594360" y="4727448"/>
            <a:ext cx="685800" cy="23774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F889D"/>
                </a:solidFill>
                <a:latin typeface="Aptos" pitchFamily="34" charset="0"/>
              </a:rPr>
              <a:t>$0</a:t>
            </a:r>
          </a:p>
        </p:txBody>
      </p:sp>
      <p:sp>
        <p:nvSpPr>
          <p:cNvPr id="109" name="RevSeg1"/>
          <p:cNvSpPr/>
          <p:nvPr/>
        </p:nvSpPr>
        <p:spPr>
          <a:xfrm flipV="1">
            <a:off x="1371600" y="4676927"/>
            <a:ext cx="2514600" cy="133582"/>
          </a:xfrm>
          <a:prstGeom prst="line">
            <a:avLst/>
          </a:prstGeom>
          <a:ln w="38100">
            <a:solidFill>
              <a:srgbClr val="2DE2D1"/>
            </a:solidFill>
            <a:prstDash val="solid"/>
          </a:ln>
        </p:spPr>
      </p:sp>
      <p:sp>
        <p:nvSpPr>
          <p:cNvPr id="110" name="RevSeg2"/>
          <p:cNvSpPr/>
          <p:nvPr/>
        </p:nvSpPr>
        <p:spPr>
          <a:xfrm flipV="1">
            <a:off x="3886200" y="4308424"/>
            <a:ext cx="2514600" cy="368503"/>
          </a:xfrm>
          <a:prstGeom prst="line">
            <a:avLst/>
          </a:prstGeom>
          <a:ln w="38100">
            <a:solidFill>
              <a:srgbClr val="2DE2D1"/>
            </a:solidFill>
            <a:prstDash val="solid"/>
          </a:ln>
        </p:spPr>
      </p:sp>
      <p:sp>
        <p:nvSpPr>
          <p:cNvPr id="111" name="RevSeg3"/>
          <p:cNvSpPr/>
          <p:nvPr/>
        </p:nvSpPr>
        <p:spPr>
          <a:xfrm flipV="1">
            <a:off x="6400800" y="3558045"/>
            <a:ext cx="2514600" cy="750380"/>
          </a:xfrm>
          <a:prstGeom prst="line">
            <a:avLst/>
          </a:prstGeom>
          <a:ln w="38100">
            <a:solidFill>
              <a:srgbClr val="2DE2D1"/>
            </a:solidFill>
            <a:prstDash val="solid"/>
          </a:ln>
        </p:spPr>
      </p:sp>
      <p:sp>
        <p:nvSpPr>
          <p:cNvPr id="112" name="RevSeg4"/>
          <p:cNvSpPr/>
          <p:nvPr/>
        </p:nvSpPr>
        <p:spPr>
          <a:xfrm flipV="1">
            <a:off x="8915400" y="2231136"/>
            <a:ext cx="2514600" cy="1326909"/>
          </a:xfrm>
          <a:prstGeom prst="line">
            <a:avLst/>
          </a:prstGeom>
          <a:ln w="38100">
            <a:solidFill>
              <a:srgbClr val="2DE2D1"/>
            </a:solidFill>
            <a:prstDash val="solid"/>
          </a:ln>
        </p:spPr>
      </p:sp>
      <p:sp>
        <p:nvSpPr>
          <p:cNvPr id="113" name="Marker1"/>
          <p:cNvSpPr/>
          <p:nvPr/>
        </p:nvSpPr>
        <p:spPr>
          <a:xfrm>
            <a:off x="1252728" y="4691638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4" name="Marker2"/>
          <p:cNvSpPr/>
          <p:nvPr/>
        </p:nvSpPr>
        <p:spPr>
          <a:xfrm>
            <a:off x="3767328" y="4558055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5" name="Marker3"/>
          <p:cNvSpPr/>
          <p:nvPr/>
        </p:nvSpPr>
        <p:spPr>
          <a:xfrm>
            <a:off x="6281928" y="4189552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6" name="Marker4"/>
          <p:cNvSpPr/>
          <p:nvPr/>
        </p:nvSpPr>
        <p:spPr>
          <a:xfrm>
            <a:off x="8796528" y="3439173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7" name="Marker5"/>
          <p:cNvSpPr/>
          <p:nvPr/>
        </p:nvSpPr>
        <p:spPr>
          <a:xfrm>
            <a:off x="11311128" y="2112264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8" name="Val1"/>
          <p:cNvSpPr/>
          <p:nvPr/>
        </p:nvSpPr>
        <p:spPr>
          <a:xfrm>
            <a:off x="731520" y="439903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$241K</a:t>
            </a:r>
          </a:p>
        </p:txBody>
      </p:sp>
      <p:sp>
        <p:nvSpPr>
          <p:cNvPr id="119" name="Val2"/>
          <p:cNvSpPr/>
          <p:nvPr/>
        </p:nvSpPr>
        <p:spPr>
          <a:xfrm>
            <a:off x="3246120" y="4265447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$1.14M</a:t>
            </a:r>
          </a:p>
        </p:txBody>
      </p:sp>
      <p:sp>
        <p:nvSpPr>
          <p:cNvPr id="120" name="Val3"/>
          <p:cNvSpPr/>
          <p:nvPr/>
        </p:nvSpPr>
        <p:spPr>
          <a:xfrm>
            <a:off x="5760720" y="3896944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$3.62M</a:t>
            </a:r>
          </a:p>
        </p:txBody>
      </p:sp>
      <p:sp>
        <p:nvSpPr>
          <p:cNvPr id="121" name="Val4"/>
          <p:cNvSpPr/>
          <p:nvPr/>
        </p:nvSpPr>
        <p:spPr>
          <a:xfrm>
            <a:off x="8275320" y="3146565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$8.67M</a:t>
            </a:r>
          </a:p>
        </p:txBody>
      </p:sp>
      <p:sp>
        <p:nvSpPr>
          <p:cNvPr id="122" name="Val5"/>
          <p:cNvSpPr/>
          <p:nvPr/>
        </p:nvSpPr>
        <p:spPr>
          <a:xfrm>
            <a:off x="10789920" y="1819656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$17.6M</a:t>
            </a:r>
          </a:p>
        </p:txBody>
      </p:sp>
      <p:sp>
        <p:nvSpPr>
          <p:cNvPr id="123" name="YearLabel1"/>
          <p:cNvSpPr/>
          <p:nvPr/>
        </p:nvSpPr>
        <p:spPr>
          <a:xfrm>
            <a:off x="7315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1</a:t>
            </a:r>
          </a:p>
        </p:txBody>
      </p:sp>
      <p:sp>
        <p:nvSpPr>
          <p:cNvPr id="124" name="YearLabel2"/>
          <p:cNvSpPr/>
          <p:nvPr/>
        </p:nvSpPr>
        <p:spPr>
          <a:xfrm>
            <a:off x="32461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2</a:t>
            </a:r>
          </a:p>
        </p:txBody>
      </p:sp>
      <p:sp>
        <p:nvSpPr>
          <p:cNvPr id="125" name="YearLabel3"/>
          <p:cNvSpPr/>
          <p:nvPr/>
        </p:nvSpPr>
        <p:spPr>
          <a:xfrm>
            <a:off x="57607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3</a:t>
            </a:r>
          </a:p>
        </p:txBody>
      </p:sp>
      <p:sp>
        <p:nvSpPr>
          <p:cNvPr id="126" name="YearLabel4"/>
          <p:cNvSpPr/>
          <p:nvPr/>
        </p:nvSpPr>
        <p:spPr>
          <a:xfrm>
            <a:off x="82753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4</a:t>
            </a:r>
          </a:p>
        </p:txBody>
      </p:sp>
      <p:sp>
        <p:nvSpPr>
          <p:cNvPr id="127" name="YearLabel5"/>
          <p:cNvSpPr/>
          <p:nvPr/>
        </p:nvSpPr>
        <p:spPr>
          <a:xfrm>
            <a:off x="107899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5</a:t>
            </a:r>
          </a:p>
        </p:txBody>
      </p:sp>
      <p:sp>
        <p:nvSpPr>
          <p:cNvPr id="128" name="ARRLabel"/>
          <p:cNvSpPr/>
          <p:nvPr/>
        </p:nvSpPr>
        <p:spPr>
          <a:xfrm>
            <a:off x="1371600" y="5349240"/>
            <a:ext cx="155448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9BED0"/>
                </a:solidFill>
                <a:latin typeface="Aptos" pitchFamily="34" charset="0"/>
              </a:rPr>
              <a:t>ARR (recurring):</a:t>
            </a:r>
          </a:p>
        </p:txBody>
      </p:sp>
      <p:sp>
        <p:nvSpPr>
          <p:cNvPr id="129" name="ARRVal1"/>
          <p:cNvSpPr/>
          <p:nvPr/>
        </p:nvSpPr>
        <p:spPr>
          <a:xfrm>
            <a:off x="5760720" y="534924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</a:rPr>
              <a:t>$2.4M</a:t>
            </a:r>
          </a:p>
        </p:txBody>
      </p:sp>
      <p:sp>
        <p:nvSpPr>
          <p:cNvPr id="130" name="ARRVal2"/>
          <p:cNvSpPr/>
          <p:nvPr/>
        </p:nvSpPr>
        <p:spPr>
          <a:xfrm>
            <a:off x="8275320" y="534924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</a:rPr>
              <a:t>$6.2M</a:t>
            </a:r>
          </a:p>
        </p:txBody>
      </p:sp>
      <p:sp>
        <p:nvSpPr>
          <p:cNvPr id="131" name="ARRVal3"/>
          <p:cNvSpPr/>
          <p:nvPr/>
        </p:nvSpPr>
        <p:spPr>
          <a:xfrm>
            <a:off x="10789920" y="534924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</a:rPr>
              <a:t>$13.4M</a:t>
            </a:r>
          </a:p>
        </p:txBody>
      </p:sp>
      <p:sp>
        <p:nvSpPr>
          <p:cNvPr id="132" name="ChartTitle"/>
          <p:cNvSpPr/>
          <p:nvPr/>
        </p:nvSpPr>
        <p:spPr>
          <a:xfrm>
            <a:off x="137160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8FB"/>
                </a:solidFill>
                <a:latin typeface="Aptos" pitchFamily="34" charset="0"/>
              </a:rPr>
              <a:t>Revenue trajectory  -  $241K to $17.6M  -  ~135% CAGR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ERP that doesn't believe in edge cases.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WE'VE ALREADY BUILT IT.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pre-seed. BFTP tranche: $150–350K. Detailed allocation in companion talking-points doc.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 — cgaither@mimirlabs.net — mimirlabs.net — South Central Pennsylvania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