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1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1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31F"/>
          </a:solidFill>
          <a:ln w="12700">
            <a:solidFill>
              <a:srgbClr val="0813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DE2D1"/>
          </a:solidFill>
          <a:ln w="12700">
            <a:solidFill>
              <a:srgbClr val="2DE2D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75320" y="137160"/>
            <a:ext cx="3611880" cy="3611880"/>
          </a:xfrm>
          <a:prstGeom prst="arc">
            <a:avLst/>
          </a:prstGeom>
          <a:solidFill>
            <a:srgbClr val="08131F">
              <a:alpha val="0"/>
            </a:srgbClr>
          </a:solidFill>
          <a:ln w="13970">
            <a:solidFill>
              <a:srgbClr val="123D5A">
                <a:alpha val="6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41080" y="475488"/>
            <a:ext cx="2834640" cy="2834640"/>
          </a:xfrm>
          <a:prstGeom prst="arc">
            <a:avLst/>
          </a:prstGeom>
          <a:solidFill>
            <a:srgbClr val="08131F">
              <a:alpha val="0"/>
            </a:srgbClr>
          </a:solidFill>
          <a:ln w="10160">
            <a:solidFill>
              <a:srgbClr val="2DE2D1">
                <a:alpha val="2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38160" y="731520"/>
            <a:ext cx="3291840" cy="0"/>
          </a:xfrm>
          <a:prstGeom prst="line">
            <a:avLst/>
          </a:prstGeom>
          <a:noFill/>
          <a:ln w="12700">
            <a:solidFill>
              <a:srgbClr val="123D5A">
                <a:alpha val="5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502920"/>
            <a:ext cx="2788920" cy="320040"/>
          </a:xfrm>
          <a:prstGeom prst="roundRect">
            <a:avLst>
              <a:gd name="adj" fmla="val 17143"/>
            </a:avLst>
          </a:prstGeom>
          <a:solidFill>
            <a:srgbClr val="2DE2D1">
              <a:alpha val="88000"/>
            </a:srgbClr>
          </a:solidFill>
          <a:ln w="12700">
            <a:solidFill>
              <a:srgbClr val="2DE2D1">
                <a:alpha val="90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8096" y="576072"/>
            <a:ext cx="2569464" cy="1737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870" b="1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GOVERNANCE-FIRST ENTERPRISE INFRASTRUCTURE</a:t>
            </a:r>
            <a:endParaRPr lang="en-US" sz="870" dirty="0"/>
          </a:p>
        </p:txBody>
      </p:sp>
      <p:sp>
        <p:nvSpPr>
          <p:cNvPr id="9" name="Text 7"/>
          <p:cNvSpPr/>
          <p:nvPr/>
        </p:nvSpPr>
        <p:spPr>
          <a:xfrm>
            <a:off x="658368" y="1051560"/>
            <a:ext cx="384048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Mimir Labs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58368" y="1600200"/>
            <a:ext cx="7863840" cy="11430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35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ERP that doesn't believe in edge cases.</a:t>
            </a:r>
            <a:endParaRPr lang="en-US" sz="3500" dirty="0"/>
          </a:p>
        </p:txBody>
      </p:sp>
      <p:sp>
        <p:nvSpPr>
          <p:cNvPr id="11" name="Text 9"/>
          <p:cNvSpPr/>
          <p:nvPr/>
        </p:nvSpPr>
        <p:spPr>
          <a:xfrm>
            <a:off x="685800" y="2907792"/>
            <a:ext cx="6583680" cy="594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Ratatosk discovers where enterprise meaning breaks. Yggdrasil ERP turns governed meaning into enforceable operational state.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58368" y="4160520"/>
            <a:ext cx="3017520" cy="1234440"/>
          </a:xfrm>
          <a:prstGeom prst="roundRect">
            <a:avLst>
              <a:gd name="adj" fmla="val 5926"/>
            </a:avLst>
          </a:prstGeom>
          <a:solidFill>
            <a:srgbClr val="06111C"/>
          </a:solidFill>
          <a:ln w="12700">
            <a:solidFill>
              <a:srgbClr val="2DE2D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4416552"/>
            <a:ext cx="256032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Investor Deck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868680" y="4800600"/>
            <a:ext cx="2560320" cy="347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Pre-seed investor materials — Mimir Labs LLC, South Central Pennsylvania.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594360" y="6473952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• Investor Deck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81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31F"/>
          </a:solidFill>
          <a:ln w="12700">
            <a:solidFill>
              <a:srgbClr val="0813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DE2D1"/>
          </a:solidFill>
          <a:ln w="12700">
            <a:solidFill>
              <a:srgbClr val="2DE2D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75320" y="137160"/>
            <a:ext cx="3611880" cy="3611880"/>
          </a:xfrm>
          <a:prstGeom prst="arc">
            <a:avLst/>
          </a:prstGeom>
          <a:solidFill>
            <a:srgbClr val="08131F">
              <a:alpha val="0"/>
            </a:srgbClr>
          </a:solidFill>
          <a:ln w="13970">
            <a:solidFill>
              <a:srgbClr val="123D5A">
                <a:alpha val="6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41080" y="475488"/>
            <a:ext cx="2834640" cy="2834640"/>
          </a:xfrm>
          <a:prstGeom prst="arc">
            <a:avLst/>
          </a:prstGeom>
          <a:solidFill>
            <a:srgbClr val="08131F">
              <a:alpha val="0"/>
            </a:srgbClr>
          </a:solidFill>
          <a:ln w="10160">
            <a:solidFill>
              <a:srgbClr val="2DE2D1">
                <a:alpha val="2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38160" y="731520"/>
            <a:ext cx="3291840" cy="0"/>
          </a:xfrm>
          <a:prstGeom prst="line">
            <a:avLst/>
          </a:prstGeom>
          <a:noFill/>
          <a:ln w="12700">
            <a:solidFill>
              <a:srgbClr val="123D5A">
                <a:alpha val="55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320040"/>
            <a:ext cx="71323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Enterprise systems fail at the same thing, the same way, for thirty years.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12648" y="877824"/>
            <a:ext cx="77724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Gartner: over 70% of recent ERP initiatives miss their original business case goals. The system of record can't be trusted because the data model drifts every time anyone customizes anything.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58368" y="1417320"/>
            <a:ext cx="3017520" cy="4160520"/>
          </a:xfrm>
          <a:prstGeom prst="roundRect">
            <a:avLst>
              <a:gd name="adj" fmla="val 2424"/>
            </a:avLst>
          </a:prstGeom>
          <a:solidFill>
            <a:srgbClr val="071523">
              <a:alpha val="96000"/>
            </a:srgbClr>
          </a:solidFill>
          <a:ln w="12700">
            <a:solidFill>
              <a:srgbClr val="31557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1664208"/>
            <a:ext cx="246888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What's in place today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868680" y="2212848"/>
            <a:ext cx="2331720" cy="1463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ERP, CRM, BI, spreadsheets
</a:t>
            </a:r>
            <a:pPr indent="0" marL="0">
              <a:buNone/>
            </a:pPr>
            <a:r>
              <a:rPr lang="en-US" sz="13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iPaaS and workflow glue
</a:t>
            </a:r>
            <a:pPr indent="0" marL="0">
              <a:buNone/>
            </a:pPr>
            <a:r>
              <a:rPr lang="en-US" sz="13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Custom fields and bespoke logic
</a:t>
            </a:r>
            <a:pPr indent="0" marL="0">
              <a:buNone/>
            </a:pPr>
            <a:r>
              <a:rPr lang="en-US" sz="13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Audit trails as aspiration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26280" y="1417320"/>
            <a:ext cx="2971800" cy="4160520"/>
          </a:xfrm>
          <a:prstGeom prst="roundRect">
            <a:avLst>
              <a:gd name="adj" fmla="val 2462"/>
            </a:avLst>
          </a:prstGeom>
          <a:solidFill>
            <a:srgbClr val="071523">
              <a:alpha val="96000"/>
            </a:srgbClr>
          </a:solidFill>
          <a:ln w="12700">
            <a:solidFill>
              <a:srgbClr val="31557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36592" y="1664208"/>
            <a:ext cx="256032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it breaks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736592" y="2212848"/>
            <a:ext cx="2331720" cy="1508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Duplicate business concepts
</a:t>
            </a:r>
            <a:pPr indent="0" marL="0">
              <a:buNone/>
            </a:pPr>
            <a:r>
              <a:rPr lang="en-US" sz="13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Conflicting ownership
</a:t>
            </a:r>
            <a:pPr indent="0" marL="0">
              <a:buNone/>
            </a:pPr>
            <a:r>
              <a:rPr lang="en-US" sz="13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Ambiguous state transitions
</a:t>
            </a:r>
            <a:pPr indent="0" marL="0">
              <a:buNone/>
            </a:pPr>
            <a:r>
              <a:rPr lang="en-US" sz="13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Decision authority outside the system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366760" y="1417320"/>
            <a:ext cx="3017520" cy="4160520"/>
          </a:xfrm>
          <a:prstGeom prst="roundRect">
            <a:avLst>
              <a:gd name="adj" fmla="val 2424"/>
            </a:avLst>
          </a:prstGeom>
          <a:solidFill>
            <a:srgbClr val="071523">
              <a:alpha val="96000"/>
            </a:srgbClr>
          </a:solidFill>
          <a:ln w="12700">
            <a:solidFill>
              <a:srgbClr val="31557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577072" y="1664208"/>
            <a:ext cx="246888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Compounding cost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8577072" y="2212848"/>
            <a:ext cx="2331720" cy="1463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Each customization deepens drift
</a:t>
            </a:r>
            <a:pPr indent="0" marL="0">
              <a:buNone/>
            </a:pPr>
            <a:r>
              <a:rPr lang="en-US" sz="13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Audits become archaeology
</a:t>
            </a:r>
            <a:pPr indent="0" marL="0">
              <a:buNone/>
            </a:pPr>
            <a:r>
              <a:rPr lang="en-US" sz="13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Migrations stall mid-project
</a:t>
            </a:r>
            <a:pPr indent="0" marL="0">
              <a:buNone/>
            </a:pPr>
            <a:r>
              <a:rPr lang="en-US" sz="13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AI built on this surface multiplies wrong answers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3730752" y="3246120"/>
            <a:ext cx="676656" cy="0"/>
          </a:xfrm>
          <a:prstGeom prst="line">
            <a:avLst/>
          </a:prstGeom>
          <a:noFill/>
          <a:ln w="25400">
            <a:solidFill>
              <a:srgbClr val="2DE2D1"/>
            </a:solidFill>
            <a:prstDash val="solid"/>
            <a:headEnd type="none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7571232" y="3246120"/>
            <a:ext cx="676656" cy="0"/>
          </a:xfrm>
          <a:prstGeom prst="line">
            <a:avLst/>
          </a:prstGeom>
          <a:noFill/>
          <a:ln w="25400">
            <a:solidFill>
              <a:srgbClr val="2DE2D1"/>
            </a:solidFill>
            <a:prstDash val="solid"/>
            <a:headEnd type="none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3063240" y="5824728"/>
            <a:ext cx="6217920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Context is not authority.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594360" y="6473952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• Investor Deck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81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31F"/>
          </a:solidFill>
          <a:ln w="12700">
            <a:solidFill>
              <a:srgbClr val="0813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DE2D1"/>
          </a:solidFill>
          <a:ln w="12700">
            <a:solidFill>
              <a:srgbClr val="2DE2D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75320" y="137160"/>
            <a:ext cx="3611880" cy="3611880"/>
          </a:xfrm>
          <a:prstGeom prst="arc">
            <a:avLst/>
          </a:prstGeom>
          <a:solidFill>
            <a:srgbClr val="08131F">
              <a:alpha val="0"/>
            </a:srgbClr>
          </a:solidFill>
          <a:ln w="13970">
            <a:solidFill>
              <a:srgbClr val="123D5A">
                <a:alpha val="6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41080" y="475488"/>
            <a:ext cx="2834640" cy="2834640"/>
          </a:xfrm>
          <a:prstGeom prst="arc">
            <a:avLst/>
          </a:prstGeom>
          <a:solidFill>
            <a:srgbClr val="08131F">
              <a:alpha val="0"/>
            </a:srgbClr>
          </a:solidFill>
          <a:ln w="10160">
            <a:solidFill>
              <a:srgbClr val="2DE2D1">
                <a:alpha val="2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38160" y="731520"/>
            <a:ext cx="3291840" cy="0"/>
          </a:xfrm>
          <a:prstGeom prst="line">
            <a:avLst/>
          </a:prstGeom>
          <a:noFill/>
          <a:ln w="12700">
            <a:solidFill>
              <a:srgbClr val="123D5A">
                <a:alpha val="55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320040"/>
            <a:ext cx="71323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missing layer: governed operational authority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12648" y="877824"/>
            <a:ext cx="77724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Three conditions every governable ERP must satisfy. We built each one in running code.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68680" y="1417320"/>
            <a:ext cx="3108960" cy="3520440"/>
          </a:xfrm>
          <a:prstGeom prst="roundRect">
            <a:avLst>
              <a:gd name="adj" fmla="val 2353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B5A7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9848" y="1664208"/>
            <a:ext cx="269748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Canonical meaning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078992" y="2148840"/>
            <a:ext cx="2377440" cy="1508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323 tables across 10 modules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Mimisbrunnr shared semantic model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No custom fields, ever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Tenant label overrides without schema drift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26280" y="1417320"/>
            <a:ext cx="3108960" cy="3520440"/>
          </a:xfrm>
          <a:prstGeom prst="roundRect">
            <a:avLst>
              <a:gd name="adj" fmla="val 2353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B5A7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27448" y="1664208"/>
            <a:ext cx="269748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Validated state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736592" y="2148840"/>
            <a:ext cx="2377440" cy="1508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State Constraint Engine on every transition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Append-only audit log with per-field deltas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Replayable RedPanda event mesh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Tenant-scoped predicates and approvals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183880" y="1417320"/>
            <a:ext cx="3108960" cy="3520440"/>
          </a:xfrm>
          <a:prstGeom prst="roundRect">
            <a:avLst>
              <a:gd name="adj" fmla="val 2353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B5A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85048" y="1664208"/>
            <a:ext cx="269748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Signed authority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394192" y="2148840"/>
            <a:ext cx="2377440" cy="1508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OPE Policies compile to runtime constraints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Draft → sign → active → amend → supersede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No-delete principle preserves the audit trail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Standard Library: SOX, AS9100, CMMC, ITAR, …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15568" y="5532120"/>
            <a:ext cx="9966960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All three layers are running C++ code as of May 2026. This is built, not planned.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594360" y="6473952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• Investor Deck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81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31F"/>
          </a:solidFill>
          <a:ln w="12700">
            <a:solidFill>
              <a:srgbClr val="0813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DE2D1"/>
          </a:solidFill>
          <a:ln w="12700">
            <a:solidFill>
              <a:srgbClr val="2DE2D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75320" y="137160"/>
            <a:ext cx="3611880" cy="3611880"/>
          </a:xfrm>
          <a:prstGeom prst="arc">
            <a:avLst/>
          </a:prstGeom>
          <a:solidFill>
            <a:srgbClr val="08131F">
              <a:alpha val="0"/>
            </a:srgbClr>
          </a:solidFill>
          <a:ln w="13970">
            <a:solidFill>
              <a:srgbClr val="123D5A">
                <a:alpha val="6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41080" y="475488"/>
            <a:ext cx="2834640" cy="2834640"/>
          </a:xfrm>
          <a:prstGeom prst="arc">
            <a:avLst/>
          </a:prstGeom>
          <a:solidFill>
            <a:srgbClr val="08131F">
              <a:alpha val="0"/>
            </a:srgbClr>
          </a:solidFill>
          <a:ln w="10160">
            <a:solidFill>
              <a:srgbClr val="2DE2D1">
                <a:alpha val="2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38160" y="731520"/>
            <a:ext cx="3291840" cy="0"/>
          </a:xfrm>
          <a:prstGeom prst="line">
            <a:avLst/>
          </a:prstGeom>
          <a:noFill/>
          <a:ln w="12700">
            <a:solidFill>
              <a:srgbClr val="123D5A">
                <a:alpha val="55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320040"/>
            <a:ext cx="71323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Ratatosk is the wedge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12648" y="877824"/>
            <a:ext cx="77724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short-cycle diagnostic that exposes semantic drift and authority conflicts before implementation hardens them.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13232" y="1371600"/>
            <a:ext cx="2743200" cy="4343400"/>
          </a:xfrm>
          <a:prstGeom prst="roundRect">
            <a:avLst>
              <a:gd name="adj" fmla="val 2667"/>
            </a:avLst>
          </a:prstGeom>
          <a:solidFill>
            <a:srgbClr val="06111C">
              <a:alpha val="92000"/>
            </a:srgbClr>
          </a:solidFill>
          <a:ln w="12700">
            <a:solidFill>
              <a:srgbClr val="2DE2D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1627632"/>
            <a:ext cx="22860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Inputs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932688" y="2121408"/>
            <a:ext cx="2240280" cy="1508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ERP schemas and exports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BI models and reports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Spreadsheets and shadow systems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Integration maps and process artifacts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617720" y="1371600"/>
            <a:ext cx="2788920" cy="4343400"/>
          </a:xfrm>
          <a:prstGeom prst="roundRect">
            <a:avLst>
              <a:gd name="adj" fmla="val 2623"/>
            </a:avLst>
          </a:prstGeom>
          <a:solidFill>
            <a:srgbClr val="06111C">
              <a:alpha val="92000"/>
            </a:srgbClr>
          </a:solidFill>
          <a:ln w="12700">
            <a:solidFill>
              <a:srgbClr val="F6C65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18888" y="1627632"/>
            <a:ext cx="233172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6C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Ratatosk workshop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828032" y="2121408"/>
            <a:ext cx="2240280" cy="1508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Semantic extraction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Stakeholder validation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Concept ownership mapping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Authority conflict detection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549640" y="1371600"/>
            <a:ext cx="2788920" cy="4343400"/>
          </a:xfrm>
          <a:prstGeom prst="roundRect">
            <a:avLst>
              <a:gd name="adj" fmla="val 2623"/>
            </a:avLst>
          </a:prstGeom>
          <a:solidFill>
            <a:srgbClr val="06111C">
              <a:alpha val="92000"/>
            </a:srgbClr>
          </a:solidFill>
          <a:ln w="12700">
            <a:solidFill>
              <a:srgbClr val="2DE2D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750808" y="1627632"/>
            <a:ext cx="233172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Outputs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759952" y="2121408"/>
            <a:ext cx="2240280" cy="1508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Executive governance summary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Conflict &amp; redundancy report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Governance usage map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Canonical governance manifest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520440" y="3456432"/>
            <a:ext cx="1005840" cy="0"/>
          </a:xfrm>
          <a:prstGeom prst="line">
            <a:avLst/>
          </a:prstGeom>
          <a:noFill/>
          <a:ln w="25400">
            <a:solidFill>
              <a:srgbClr val="2DE2D1"/>
            </a:solidFill>
            <a:prstDash val="solid"/>
            <a:headEnd type="none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7452360" y="3456432"/>
            <a:ext cx="1005840" cy="0"/>
          </a:xfrm>
          <a:prstGeom prst="line">
            <a:avLst/>
          </a:prstGeom>
          <a:noFill/>
          <a:ln w="25400">
            <a:solidFill>
              <a:srgbClr val="2DE2D1"/>
            </a:solidFill>
            <a:prstDash val="solid"/>
            <a:headEnd type="none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914400" y="5989320"/>
            <a:ext cx="1042416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5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Ratatosk is built and ready to sell. $5–12.5K workshop fee, credits 1:1 against Yggdrasil activation.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594360" y="6473952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• Investor Deck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81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31F"/>
          </a:solidFill>
          <a:ln w="12700">
            <a:solidFill>
              <a:srgbClr val="0813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DE2D1"/>
          </a:solidFill>
          <a:ln w="12700">
            <a:solidFill>
              <a:srgbClr val="2DE2D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75320" y="137160"/>
            <a:ext cx="3611880" cy="3611880"/>
          </a:xfrm>
          <a:prstGeom prst="arc">
            <a:avLst/>
          </a:prstGeom>
          <a:solidFill>
            <a:srgbClr val="08131F">
              <a:alpha val="0"/>
            </a:srgbClr>
          </a:solidFill>
          <a:ln w="13970">
            <a:solidFill>
              <a:srgbClr val="123D5A">
                <a:alpha val="6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41080" y="475488"/>
            <a:ext cx="2834640" cy="2834640"/>
          </a:xfrm>
          <a:prstGeom prst="arc">
            <a:avLst/>
          </a:prstGeom>
          <a:solidFill>
            <a:srgbClr val="08131F">
              <a:alpha val="0"/>
            </a:srgbClr>
          </a:solidFill>
          <a:ln w="10160">
            <a:solidFill>
              <a:srgbClr val="2DE2D1">
                <a:alpha val="2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38160" y="731520"/>
            <a:ext cx="3291840" cy="0"/>
          </a:xfrm>
          <a:prstGeom prst="line">
            <a:avLst/>
          </a:prstGeom>
          <a:noFill/>
          <a:ln w="12700">
            <a:solidFill>
              <a:srgbClr val="123D5A">
                <a:alpha val="55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320040"/>
            <a:ext cx="71323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Ratatosk produces the artifacts every implementation wishes it had earlier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12648" y="877824"/>
            <a:ext cx="77724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canonical map before migration, integration, compliance, or AI deployment.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22960" y="1417320"/>
            <a:ext cx="5074920" cy="960120"/>
          </a:xfrm>
          <a:prstGeom prst="roundRect">
            <a:avLst>
              <a:gd name="adj" fmla="val 7619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8475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51560" y="1581912"/>
            <a:ext cx="448056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Executive Governance Summary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1051560" y="1911096"/>
            <a:ext cx="443484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2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Board/CIO view of structural risk and priority actions</a:t>
            </a:r>
            <a:endParaRPr lang="en-US" sz="1120" dirty="0"/>
          </a:p>
        </p:txBody>
      </p:sp>
      <p:sp>
        <p:nvSpPr>
          <p:cNvPr id="12" name="Shape 10"/>
          <p:cNvSpPr/>
          <p:nvPr/>
        </p:nvSpPr>
        <p:spPr>
          <a:xfrm>
            <a:off x="6446520" y="1417320"/>
            <a:ext cx="5074920" cy="960120"/>
          </a:xfrm>
          <a:prstGeom prst="roundRect">
            <a:avLst>
              <a:gd name="adj" fmla="val 7619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847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75120" y="1581912"/>
            <a:ext cx="448056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Taxonomy Distribution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6675120" y="1911096"/>
            <a:ext cx="443484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2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Where data structures concentrate by domain and business concept</a:t>
            </a:r>
            <a:endParaRPr lang="en-US" sz="1120" dirty="0"/>
          </a:p>
        </p:txBody>
      </p:sp>
      <p:sp>
        <p:nvSpPr>
          <p:cNvPr id="15" name="Shape 13"/>
          <p:cNvSpPr/>
          <p:nvPr/>
        </p:nvSpPr>
        <p:spPr>
          <a:xfrm>
            <a:off x="822960" y="2743200"/>
            <a:ext cx="5074920" cy="960120"/>
          </a:xfrm>
          <a:prstGeom prst="roundRect">
            <a:avLst>
              <a:gd name="adj" fmla="val 7619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8475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51560" y="2907792"/>
            <a:ext cx="448056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Governance Usage Map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1051560" y="3236976"/>
            <a:ext cx="443484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2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Which systems use which concepts and where ownership is unclear</a:t>
            </a:r>
            <a:endParaRPr lang="en-US" sz="1120" dirty="0"/>
          </a:p>
        </p:txBody>
      </p:sp>
      <p:sp>
        <p:nvSpPr>
          <p:cNvPr id="18" name="Shape 16"/>
          <p:cNvSpPr/>
          <p:nvPr/>
        </p:nvSpPr>
        <p:spPr>
          <a:xfrm>
            <a:off x="6446520" y="2743200"/>
            <a:ext cx="5074920" cy="960120"/>
          </a:xfrm>
          <a:prstGeom prst="roundRect">
            <a:avLst>
              <a:gd name="adj" fmla="val 7619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8475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675120" y="2907792"/>
            <a:ext cx="448056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Conflict &amp; Redundancy Report</a:t>
            </a:r>
            <a:endParaRPr lang="en-US" sz="1550" dirty="0"/>
          </a:p>
        </p:txBody>
      </p:sp>
      <p:sp>
        <p:nvSpPr>
          <p:cNvPr id="20" name="Text 18"/>
          <p:cNvSpPr/>
          <p:nvPr/>
        </p:nvSpPr>
        <p:spPr>
          <a:xfrm>
            <a:off x="6675120" y="3236976"/>
            <a:ext cx="443484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2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Duplicate, overlapping, or contradictory enterprise meanings</a:t>
            </a:r>
            <a:endParaRPr lang="en-US" sz="1120" dirty="0"/>
          </a:p>
        </p:txBody>
      </p:sp>
      <p:sp>
        <p:nvSpPr>
          <p:cNvPr id="21" name="Shape 19"/>
          <p:cNvSpPr/>
          <p:nvPr/>
        </p:nvSpPr>
        <p:spPr>
          <a:xfrm>
            <a:off x="822960" y="4069080"/>
            <a:ext cx="5074920" cy="960120"/>
          </a:xfrm>
          <a:prstGeom prst="roundRect">
            <a:avLst>
              <a:gd name="adj" fmla="val 7619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8475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51560" y="4233672"/>
            <a:ext cx="448056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Canonical Governance Manifest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1051560" y="4562856"/>
            <a:ext cx="443484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2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Machine-readable authority map for downstream implementation</a:t>
            </a:r>
            <a:endParaRPr lang="en-US" sz="1120" dirty="0"/>
          </a:p>
        </p:txBody>
      </p:sp>
      <p:sp>
        <p:nvSpPr>
          <p:cNvPr id="24" name="Shape 22"/>
          <p:cNvSpPr/>
          <p:nvPr/>
        </p:nvSpPr>
        <p:spPr>
          <a:xfrm>
            <a:off x="6446520" y="4069080"/>
            <a:ext cx="5074920" cy="960120"/>
          </a:xfrm>
          <a:prstGeom prst="roundRect">
            <a:avLst>
              <a:gd name="adj" fmla="val 7619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8475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675120" y="4233672"/>
            <a:ext cx="448056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 Ecosystem Map</a:t>
            </a:r>
            <a:endParaRPr lang="en-US" sz="1550" dirty="0"/>
          </a:p>
        </p:txBody>
      </p:sp>
      <p:sp>
        <p:nvSpPr>
          <p:cNvPr id="26" name="Text 24"/>
          <p:cNvSpPr/>
          <p:nvPr/>
        </p:nvSpPr>
        <p:spPr>
          <a:xfrm>
            <a:off x="6675120" y="4562856"/>
            <a:ext cx="443484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2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Operational system topology and integration risk surface</a:t>
            </a:r>
            <a:endParaRPr lang="en-US" sz="1120" dirty="0"/>
          </a:p>
        </p:txBody>
      </p:sp>
      <p:sp>
        <p:nvSpPr>
          <p:cNvPr id="27" name="Text 25"/>
          <p:cNvSpPr/>
          <p:nvPr/>
        </p:nvSpPr>
        <p:spPr>
          <a:xfrm>
            <a:off x="914400" y="5788152"/>
            <a:ext cx="102412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manifest becomes the bridge into Yggdrasil ERP, OPE, migration, synchronization, and partner delivery.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594360" y="6473952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• Investor Deck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81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31F"/>
          </a:solidFill>
          <a:ln w="12700">
            <a:solidFill>
              <a:srgbClr val="0813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DE2D1"/>
          </a:solidFill>
          <a:ln w="12700">
            <a:solidFill>
              <a:srgbClr val="2DE2D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75320" y="137160"/>
            <a:ext cx="3611880" cy="3611880"/>
          </a:xfrm>
          <a:prstGeom prst="arc">
            <a:avLst/>
          </a:prstGeom>
          <a:solidFill>
            <a:srgbClr val="08131F">
              <a:alpha val="0"/>
            </a:srgbClr>
          </a:solidFill>
          <a:ln w="13970">
            <a:solidFill>
              <a:srgbClr val="123D5A">
                <a:alpha val="6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41080" y="475488"/>
            <a:ext cx="2834640" cy="2834640"/>
          </a:xfrm>
          <a:prstGeom prst="arc">
            <a:avLst/>
          </a:prstGeom>
          <a:solidFill>
            <a:srgbClr val="08131F">
              <a:alpha val="0"/>
            </a:srgbClr>
          </a:solidFill>
          <a:ln w="10160">
            <a:solidFill>
              <a:srgbClr val="2DE2D1">
                <a:alpha val="2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38160" y="731520"/>
            <a:ext cx="3291840" cy="0"/>
          </a:xfrm>
          <a:prstGeom prst="line">
            <a:avLst/>
          </a:prstGeom>
          <a:noFill/>
          <a:ln w="12700">
            <a:solidFill>
              <a:srgbClr val="123D5A">
                <a:alpha val="55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320040"/>
            <a:ext cx="71323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Platform shape: discovery first, authority next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12648" y="877824"/>
            <a:ext cx="77724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new deck centers on Ratatosk as the entry point and Yggdrasil ERP as the governed reference implementation.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85800" y="1828800"/>
            <a:ext cx="1508760" cy="960120"/>
          </a:xfrm>
          <a:prstGeom prst="roundRect">
            <a:avLst>
              <a:gd name="adj" fmla="val 7619"/>
            </a:avLst>
          </a:prstGeom>
          <a:solidFill>
            <a:srgbClr val="06111C">
              <a:alpha val="96000"/>
            </a:srgbClr>
          </a:solidFill>
          <a:ln w="12700">
            <a:solidFill>
              <a:srgbClr val="F6C65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58952" y="1984248"/>
            <a:ext cx="1353312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6C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Ratatosk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95528" y="2267712"/>
            <a:ext cx="128016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88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Qt 6 governance tool — 10 pages, VBA decomp</a:t>
            </a:r>
            <a:endParaRPr lang="en-US" sz="880" dirty="0"/>
          </a:p>
        </p:txBody>
      </p:sp>
      <p:sp>
        <p:nvSpPr>
          <p:cNvPr id="12" name="Shape 10"/>
          <p:cNvSpPr/>
          <p:nvPr/>
        </p:nvSpPr>
        <p:spPr>
          <a:xfrm>
            <a:off x="2203704" y="2304288"/>
            <a:ext cx="329184" cy="1335024"/>
          </a:xfrm>
          <a:prstGeom prst="line">
            <a:avLst/>
          </a:prstGeom>
          <a:noFill/>
          <a:ln w="19050">
            <a:solidFill>
              <a:srgbClr val="2DE2D1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2560320" y="3246120"/>
            <a:ext cx="1508760" cy="960120"/>
          </a:xfrm>
          <a:prstGeom prst="roundRect">
            <a:avLst>
              <a:gd name="adj" fmla="val 7619"/>
            </a:avLst>
          </a:prstGeom>
          <a:solidFill>
            <a:srgbClr val="06111C">
              <a:alpha val="96000"/>
            </a:srgbClr>
          </a:solidFill>
          <a:ln w="12700">
            <a:solidFill>
              <a:srgbClr val="2DE2D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33472" y="3401568"/>
            <a:ext cx="1353312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Ragnarok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670048" y="3685032"/>
            <a:ext cx="128016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88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Qt 6 migration tool — 12 engines, 10 pages</a:t>
            </a:r>
            <a:endParaRPr lang="en-US" sz="880" dirty="0"/>
          </a:p>
        </p:txBody>
      </p:sp>
      <p:sp>
        <p:nvSpPr>
          <p:cNvPr id="16" name="Shape 14"/>
          <p:cNvSpPr/>
          <p:nvPr/>
        </p:nvSpPr>
        <p:spPr>
          <a:xfrm>
            <a:off x="4078224" y="3721608"/>
            <a:ext cx="329184" cy="-1417320"/>
          </a:xfrm>
          <a:prstGeom prst="line">
            <a:avLst/>
          </a:prstGeom>
          <a:noFill/>
          <a:ln w="19050">
            <a:solidFill>
              <a:srgbClr val="2DE2D1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4434840" y="1828800"/>
            <a:ext cx="1508760" cy="960120"/>
          </a:xfrm>
          <a:prstGeom prst="roundRect">
            <a:avLst>
              <a:gd name="adj" fmla="val 7619"/>
            </a:avLst>
          </a:prstGeom>
          <a:solidFill>
            <a:srgbClr val="06111C">
              <a:alpha val="96000"/>
            </a:srgbClr>
          </a:solidFill>
          <a:ln w="12700">
            <a:solidFill>
              <a:srgbClr val="2DE2D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07992" y="1984248"/>
            <a:ext cx="1353312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Bifrost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544568" y="2267712"/>
            <a:ext cx="128016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88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Qt 6 integration engine — 9 panels, 13 playbooks</a:t>
            </a:r>
            <a:endParaRPr lang="en-US" sz="880" dirty="0"/>
          </a:p>
        </p:txBody>
      </p:sp>
      <p:sp>
        <p:nvSpPr>
          <p:cNvPr id="20" name="Shape 18"/>
          <p:cNvSpPr/>
          <p:nvPr/>
        </p:nvSpPr>
        <p:spPr>
          <a:xfrm>
            <a:off x="5952744" y="2304288"/>
            <a:ext cx="329184" cy="1335024"/>
          </a:xfrm>
          <a:prstGeom prst="line">
            <a:avLst/>
          </a:prstGeom>
          <a:noFill/>
          <a:ln w="19050">
            <a:solidFill>
              <a:srgbClr val="2DE2D1"/>
            </a:solidFill>
            <a:prstDash val="solid"/>
            <a:headEnd type="none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6309360" y="3246120"/>
            <a:ext cx="1508760" cy="960120"/>
          </a:xfrm>
          <a:prstGeom prst="roundRect">
            <a:avLst>
              <a:gd name="adj" fmla="val 7619"/>
            </a:avLst>
          </a:prstGeom>
          <a:solidFill>
            <a:srgbClr val="06111C">
              <a:alpha val="96000"/>
            </a:srgbClr>
          </a:solidFill>
          <a:ln w="12700">
            <a:solidFill>
              <a:srgbClr val="2DE2D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382512" y="3401568"/>
            <a:ext cx="1353312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Yggdrasil ERP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419088" y="3685032"/>
            <a:ext cx="128016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88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Manufacturing ERP with OPE governance — 323 tables, 10 modules</a:t>
            </a:r>
            <a:endParaRPr lang="en-US" sz="880" dirty="0"/>
          </a:p>
        </p:txBody>
      </p:sp>
      <p:sp>
        <p:nvSpPr>
          <p:cNvPr id="24" name="Shape 22"/>
          <p:cNvSpPr/>
          <p:nvPr/>
        </p:nvSpPr>
        <p:spPr>
          <a:xfrm>
            <a:off x="7827264" y="3721608"/>
            <a:ext cx="329184" cy="-1417320"/>
          </a:xfrm>
          <a:prstGeom prst="line">
            <a:avLst/>
          </a:prstGeom>
          <a:noFill/>
          <a:ln w="19050">
            <a:solidFill>
              <a:srgbClr val="2DE2D1"/>
            </a:solidFill>
            <a:prstDash val="solid"/>
            <a:headEnd type="none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8183880" y="1828800"/>
            <a:ext cx="1508760" cy="960120"/>
          </a:xfrm>
          <a:prstGeom prst="roundRect">
            <a:avLst>
              <a:gd name="adj" fmla="val 7619"/>
            </a:avLst>
          </a:prstGeom>
          <a:solidFill>
            <a:srgbClr val="06111C">
              <a:alpha val="96000"/>
            </a:srgbClr>
          </a:solidFill>
          <a:ln w="12700">
            <a:solidFill>
              <a:srgbClr val="2DE2D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57032" y="1984248"/>
            <a:ext cx="1353312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Jormungandr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8293608" y="2267712"/>
            <a:ext cx="128016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88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Platform-shadow concepts across federated tenants</a:t>
            </a:r>
            <a:endParaRPr lang="en-US" sz="880" dirty="0"/>
          </a:p>
        </p:txBody>
      </p:sp>
      <p:sp>
        <p:nvSpPr>
          <p:cNvPr id="28" name="Shape 26"/>
          <p:cNvSpPr/>
          <p:nvPr/>
        </p:nvSpPr>
        <p:spPr>
          <a:xfrm>
            <a:off x="9701784" y="2304288"/>
            <a:ext cx="329184" cy="1335024"/>
          </a:xfrm>
          <a:prstGeom prst="line">
            <a:avLst/>
          </a:prstGeom>
          <a:noFill/>
          <a:ln w="19050">
            <a:solidFill>
              <a:srgbClr val="2DE2D1"/>
            </a:solidFill>
            <a:prstDash val="solid"/>
            <a:headEnd type="none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10058400" y="3246120"/>
            <a:ext cx="1508760" cy="960120"/>
          </a:xfrm>
          <a:prstGeom prst="roundRect">
            <a:avLst>
              <a:gd name="adj" fmla="val 7619"/>
            </a:avLst>
          </a:prstGeom>
          <a:solidFill>
            <a:srgbClr val="06111C">
              <a:alpha val="96000"/>
            </a:srgbClr>
          </a:solidFill>
          <a:ln w="12700">
            <a:solidFill>
              <a:srgbClr val="2DE2D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0131552" y="3401568"/>
            <a:ext cx="1353312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Norn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10168128" y="3685032"/>
            <a:ext cx="128016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88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Contract document intelligence — OPE plugin on roadmap</a:t>
            </a:r>
            <a:endParaRPr lang="en-US" sz="880" dirty="0"/>
          </a:p>
        </p:txBody>
      </p:sp>
      <p:sp>
        <p:nvSpPr>
          <p:cNvPr id="32" name="Text 30"/>
          <p:cNvSpPr/>
          <p:nvPr/>
        </p:nvSpPr>
        <p:spPr>
          <a:xfrm>
            <a:off x="1143000" y="5303520"/>
            <a:ext cx="9875520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Each tool ships standalone. One shared semantic substrate (Mimisbrunnr) unifies the six.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594360" y="6473952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• Investor Deck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81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31F"/>
          </a:solidFill>
          <a:ln w="12700">
            <a:solidFill>
              <a:srgbClr val="0813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DE2D1"/>
          </a:solidFill>
          <a:ln w="12700">
            <a:solidFill>
              <a:srgbClr val="2DE2D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75320" y="137160"/>
            <a:ext cx="3611880" cy="3611880"/>
          </a:xfrm>
          <a:prstGeom prst="arc">
            <a:avLst/>
          </a:prstGeom>
          <a:solidFill>
            <a:srgbClr val="08131F">
              <a:alpha val="0"/>
            </a:srgbClr>
          </a:solidFill>
          <a:ln w="13970">
            <a:solidFill>
              <a:srgbClr val="123D5A">
                <a:alpha val="6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41080" y="475488"/>
            <a:ext cx="2834640" cy="2834640"/>
          </a:xfrm>
          <a:prstGeom prst="arc">
            <a:avLst/>
          </a:prstGeom>
          <a:solidFill>
            <a:srgbClr val="08131F">
              <a:alpha val="0"/>
            </a:srgbClr>
          </a:solidFill>
          <a:ln w="10160">
            <a:solidFill>
              <a:srgbClr val="2DE2D1">
                <a:alpha val="2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38160" y="731520"/>
            <a:ext cx="3291840" cy="0"/>
          </a:xfrm>
          <a:prstGeom prst="line">
            <a:avLst/>
          </a:prstGeom>
          <a:noFill/>
          <a:ln w="12700">
            <a:solidFill>
              <a:srgbClr val="123D5A">
                <a:alpha val="55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320040"/>
            <a:ext cx="71323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Yggdrasil ERP: the reference implementation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12648" y="877824"/>
            <a:ext cx="77724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governance-first ERP designed around canonical meaning, state validity, and auditability. A reference implementation of the CAIP-HE framework.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77240" y="1325880"/>
            <a:ext cx="4754880" cy="4480560"/>
          </a:xfrm>
          <a:prstGeom prst="roundRect">
            <a:avLst>
              <a:gd name="adj" fmla="val 1633"/>
            </a:avLst>
          </a:prstGeom>
          <a:solidFill>
            <a:srgbClr val="071523">
              <a:alpha val="94000"/>
            </a:srgbClr>
          </a:solidFill>
          <a:ln w="12700">
            <a:solidFill>
              <a:srgbClr val="2DE2D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591056"/>
            <a:ext cx="411480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Core design principles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024128" y="2057400"/>
            <a:ext cx="3886200" cy="2057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Qt 6 desktop client + Next.js web app, both shipping in alpha
</a:t>
            </a:r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Canonical schema (323 tables, 10 modules) as living substrate
</a:t>
            </a:r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Strict validation at ingress; no custom fields permitted
</a:t>
            </a:r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OPE-signed Policies enforced on every state transition
</a:t>
            </a:r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Append-only audit log; RedPanda B2B event mesh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46520" y="1325880"/>
            <a:ext cx="4754880" cy="4480560"/>
          </a:xfrm>
          <a:prstGeom prst="roundRect">
            <a:avLst>
              <a:gd name="adj" fmla="val 1633"/>
            </a:avLst>
          </a:prstGeom>
          <a:solidFill>
            <a:srgbClr val="071523">
              <a:alpha val="94000"/>
            </a:srgbClr>
          </a:solidFill>
          <a:ln w="12700">
            <a:solidFill>
              <a:srgbClr val="F6C65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75120" y="1591056"/>
            <a:ext cx="411480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6C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it matters now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693408" y="2057400"/>
            <a:ext cx="3886200" cy="1874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Manufacturers can't trust their own data after years of customization
</a:t>
            </a:r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AS9100, CMMC, SOX, ITAR demand provenance, not screenshots
</a:t>
            </a:r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AI built on drifted data multiplies bad decisions
</a:t>
            </a:r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Substrate-level governance is the only durable fix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097280" y="6007608"/>
            <a:ext cx="992124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5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Yggdrasil ERP is the working reference implementation of the CAIP-HE framework — built, running, and shipping in alpha today.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594360" y="6473952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• Investor Deck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81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31F"/>
          </a:solidFill>
          <a:ln w="12700">
            <a:solidFill>
              <a:srgbClr val="0813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DE2D1"/>
          </a:solidFill>
          <a:ln w="12700">
            <a:solidFill>
              <a:srgbClr val="2DE2D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75320" y="137160"/>
            <a:ext cx="3611880" cy="3611880"/>
          </a:xfrm>
          <a:prstGeom prst="arc">
            <a:avLst/>
          </a:prstGeom>
          <a:solidFill>
            <a:srgbClr val="08131F">
              <a:alpha val="0"/>
            </a:srgbClr>
          </a:solidFill>
          <a:ln w="13970">
            <a:solidFill>
              <a:srgbClr val="123D5A">
                <a:alpha val="6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41080" y="475488"/>
            <a:ext cx="2834640" cy="2834640"/>
          </a:xfrm>
          <a:prstGeom prst="arc">
            <a:avLst/>
          </a:prstGeom>
          <a:solidFill>
            <a:srgbClr val="08131F">
              <a:alpha val="0"/>
            </a:srgbClr>
          </a:solidFill>
          <a:ln w="10160">
            <a:solidFill>
              <a:srgbClr val="2DE2D1">
                <a:alpha val="2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38160" y="731520"/>
            <a:ext cx="3291840" cy="0"/>
          </a:xfrm>
          <a:prstGeom prst="line">
            <a:avLst/>
          </a:prstGeom>
          <a:noFill/>
          <a:ln w="12700">
            <a:solidFill>
              <a:srgbClr val="123D5A">
                <a:alpha val="55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320040"/>
            <a:ext cx="71323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OPE makes the thesis visible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12648" y="877824"/>
            <a:ext cx="77724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Operational Policy Enforcement: signed administrative decisions compile to runtime constraints, roles, approval flows, and workflow templates. Shipped May 2026.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77240" y="1325880"/>
            <a:ext cx="2743200" cy="4343400"/>
          </a:xfrm>
          <a:prstGeom prst="roundRect">
            <a:avLst>
              <a:gd name="adj" fmla="val 2667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B5A7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627632"/>
            <a:ext cx="224028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Today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024128" y="2148840"/>
            <a:ext cx="2011680" cy="1554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Board minutes
</a:t>
            </a:r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Email approvals
</a:t>
            </a:r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Policy PDFs
</a:t>
            </a:r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Teams threads
</a:t>
            </a:r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Tribal memory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754880" y="1325880"/>
            <a:ext cx="2743200" cy="4343400"/>
          </a:xfrm>
          <a:prstGeom prst="roundRect">
            <a:avLst>
              <a:gd name="adj" fmla="val 2667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F6C65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83480" y="1627632"/>
            <a:ext cx="224028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6C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 Policy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5001768" y="2148840"/>
            <a:ext cx="2011680" cy="1554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Compound predicates (AND/OR/NOT/IF-THEN)
</a:t>
            </a:r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Named Conditions library (versioned)
</a:t>
            </a:r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Policy Phases (pre / gate / post / observer)
</a:t>
            </a:r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Multi-action THEN + JSONB capture
</a:t>
            </a:r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Signed lifecycle: draft → active → superseded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641080" y="1325880"/>
            <a:ext cx="2743200" cy="4343400"/>
          </a:xfrm>
          <a:prstGeom prst="roundRect">
            <a:avLst>
              <a:gd name="adj" fmla="val 2667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DE2D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869680" y="1627632"/>
            <a:ext cx="224028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Runtime effect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8887968" y="2148840"/>
            <a:ext cx="2011680" cy="1554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Allowed
</a:t>
            </a:r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Blocked
</a:t>
            </a:r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Routed
</a:t>
            </a:r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Escalated
</a:t>
            </a:r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Audited (per-field)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611880" y="3429000"/>
            <a:ext cx="1033272" cy="0"/>
          </a:xfrm>
          <a:prstGeom prst="line">
            <a:avLst/>
          </a:prstGeom>
          <a:noFill/>
          <a:ln w="25400">
            <a:solidFill>
              <a:srgbClr val="2DE2D1"/>
            </a:solidFill>
            <a:prstDash val="solid"/>
            <a:headEnd type="none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7607808" y="3429000"/>
            <a:ext cx="941832" cy="0"/>
          </a:xfrm>
          <a:prstGeom prst="line">
            <a:avLst/>
          </a:prstGeom>
          <a:noFill/>
          <a:ln w="25400">
            <a:solidFill>
              <a:srgbClr val="2DE2D1"/>
            </a:solidFill>
            <a:prstDash val="solid"/>
            <a:headEnd type="none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822960" y="5989320"/>
            <a:ext cx="1078992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52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Eight Standard Library templates ship today across SOX, AS9100, AS9102, ISO 9001, CMMC, and OFAC. Mimisbrunnr carries the controls vocabulary.</a:t>
            </a:r>
            <a:endParaRPr lang="en-US" sz="1520" dirty="0"/>
          </a:p>
        </p:txBody>
      </p:sp>
      <p:sp>
        <p:nvSpPr>
          <p:cNvPr id="21" name="Text 19"/>
          <p:cNvSpPr/>
          <p:nvPr/>
        </p:nvSpPr>
        <p:spPr>
          <a:xfrm>
            <a:off x="594360" y="6473952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• Investor Deck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81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31F"/>
          </a:solidFill>
          <a:ln w="12700">
            <a:solidFill>
              <a:srgbClr val="0813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DE2D1"/>
          </a:solidFill>
          <a:ln w="12700">
            <a:solidFill>
              <a:srgbClr val="2DE2D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75320" y="137160"/>
            <a:ext cx="3611880" cy="3611880"/>
          </a:xfrm>
          <a:prstGeom prst="arc">
            <a:avLst/>
          </a:prstGeom>
          <a:solidFill>
            <a:srgbClr val="08131F">
              <a:alpha val="0"/>
            </a:srgbClr>
          </a:solidFill>
          <a:ln w="13970">
            <a:solidFill>
              <a:srgbClr val="123D5A">
                <a:alpha val="6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41080" y="475488"/>
            <a:ext cx="2834640" cy="2834640"/>
          </a:xfrm>
          <a:prstGeom prst="arc">
            <a:avLst/>
          </a:prstGeom>
          <a:solidFill>
            <a:srgbClr val="08131F">
              <a:alpha val="0"/>
            </a:srgbClr>
          </a:solidFill>
          <a:ln w="10160">
            <a:solidFill>
              <a:srgbClr val="2DE2D1">
                <a:alpha val="2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38160" y="731520"/>
            <a:ext cx="3291840" cy="0"/>
          </a:xfrm>
          <a:prstGeom prst="line">
            <a:avLst/>
          </a:prstGeom>
          <a:noFill/>
          <a:ln w="12700">
            <a:solidFill>
              <a:srgbClr val="123D5A">
                <a:alpha val="55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320040"/>
            <a:ext cx="71323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Norn: contract document intelligence today, OPE-integrated tomorrow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12648" y="877824"/>
            <a:ext cx="77724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Standalone pilot offering now (Business tier). Roadmap: contract obligations become OPE Policy candidates the Yggdrasil runtime enforces directly.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77240" y="1417320"/>
            <a:ext cx="3108960" cy="4114800"/>
          </a:xfrm>
          <a:prstGeom prst="roundRect">
            <a:avLst>
              <a:gd name="adj" fmla="val 2353"/>
            </a:avLst>
          </a:prstGeom>
          <a:solidFill>
            <a:srgbClr val="06111C">
              <a:alpha val="96000"/>
            </a:srgbClr>
          </a:solidFill>
          <a:ln w="12700">
            <a:solidFill>
              <a:srgbClr val="31557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700784"/>
            <a:ext cx="265176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Today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024128" y="2148840"/>
            <a:ext cx="2240280" cy="1417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Contract authoring + signing
</a:t>
            </a:r>
            <a:pPr indent="0" marL="0">
              <a:buNone/>
            </a:pPr>
            <a:r>
              <a:rPr lang="en-US" sz="13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Pilot tier: $299/mo Business
</a:t>
            </a:r>
            <a:pPr indent="0" marL="0">
              <a:buNone/>
            </a:pPr>
            <a:r>
              <a:rPr lang="en-US" sz="13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5-org pilot cap (none signed)
</a:t>
            </a:r>
            <a:pPr indent="0" marL="0">
              <a:buNone/>
            </a:pPr>
            <a:r>
              <a:rPr lang="en-US" sz="13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Standalone web app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26280" y="1417320"/>
            <a:ext cx="3108960" cy="4114800"/>
          </a:xfrm>
          <a:prstGeom prst="roundRect">
            <a:avLst>
              <a:gd name="adj" fmla="val 2353"/>
            </a:avLst>
          </a:prstGeom>
          <a:solidFill>
            <a:srgbClr val="06111C">
              <a:alpha val="96000"/>
            </a:srgbClr>
          </a:solidFill>
          <a:ln w="12700">
            <a:solidFill>
              <a:srgbClr val="F6C65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54880" y="1700784"/>
            <a:ext cx="265176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6C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Norn extraction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773168" y="2148840"/>
            <a:ext cx="2240280" cy="1417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Obligations
</a:t>
            </a:r>
            <a:pPr indent="0" marL="0">
              <a:buNone/>
            </a:pPr>
            <a:r>
              <a:rPr lang="en-US" sz="13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Evidence requirements
</a:t>
            </a:r>
            <a:pPr indent="0" marL="0">
              <a:buNone/>
            </a:pPr>
            <a:r>
              <a:rPr lang="en-US" sz="13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Milestones
</a:t>
            </a:r>
            <a:pPr indent="0" marL="0">
              <a:buNone/>
            </a:pPr>
            <a:r>
              <a:rPr lang="en-US" sz="13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Renewals and exceptions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275320" y="1417320"/>
            <a:ext cx="3108960" cy="4114800"/>
          </a:xfrm>
          <a:prstGeom prst="roundRect">
            <a:avLst>
              <a:gd name="adj" fmla="val 2353"/>
            </a:avLst>
          </a:prstGeom>
          <a:solidFill>
            <a:srgbClr val="06111C">
              <a:alpha val="96000"/>
            </a:srgbClr>
          </a:solidFill>
          <a:ln w="12700">
            <a:solidFill>
              <a:srgbClr val="2DE2D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503920" y="1700784"/>
            <a:ext cx="265176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Roadmap → OPE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522208" y="2148840"/>
            <a:ext cx="2240280" cy="1417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Obligations → Policy candidates
</a:t>
            </a:r>
            <a:pPr indent="0" marL="0">
              <a:buNone/>
            </a:pPr>
            <a:r>
              <a:rPr lang="en-US" sz="13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Evidence → Constraint inputs
</a:t>
            </a:r>
            <a:pPr indent="0" marL="0">
              <a:buNone/>
            </a:pPr>
            <a:r>
              <a:rPr lang="en-US" sz="13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Milestones → Workflow templates
</a:t>
            </a:r>
            <a:pPr indent="0" marL="0">
              <a:buNone/>
            </a:pPr>
            <a:r>
              <a:rPr lang="en-US" sz="13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Renewals → Effective-date triggers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3913632" y="3429000"/>
            <a:ext cx="512064" cy="0"/>
          </a:xfrm>
          <a:prstGeom prst="line">
            <a:avLst/>
          </a:prstGeom>
          <a:noFill/>
          <a:ln w="22860">
            <a:solidFill>
              <a:srgbClr val="2DE2D1"/>
            </a:solidFill>
            <a:prstDash val="solid"/>
            <a:headEnd type="none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7662672" y="3429000"/>
            <a:ext cx="512064" cy="0"/>
          </a:xfrm>
          <a:prstGeom prst="line">
            <a:avLst/>
          </a:prstGeom>
          <a:noFill/>
          <a:ln w="22860">
            <a:solidFill>
              <a:srgbClr val="2DE2D1"/>
            </a:solidFill>
            <a:prstDash val="solid"/>
            <a:headEnd type="none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1005840" y="5852160"/>
            <a:ext cx="10149840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Google and Microsoft can help create and sign documents. Norn tells the operating system what the signed document now requires.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594360" y="6473952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• Investor Deck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81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31F"/>
          </a:solidFill>
          <a:ln w="12700">
            <a:solidFill>
              <a:srgbClr val="0813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DE2D1"/>
          </a:solidFill>
          <a:ln w="12700">
            <a:solidFill>
              <a:srgbClr val="2DE2D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75320" y="137160"/>
            <a:ext cx="3611880" cy="3611880"/>
          </a:xfrm>
          <a:prstGeom prst="arc">
            <a:avLst/>
          </a:prstGeom>
          <a:solidFill>
            <a:srgbClr val="08131F">
              <a:alpha val="0"/>
            </a:srgbClr>
          </a:solidFill>
          <a:ln w="13970">
            <a:solidFill>
              <a:srgbClr val="123D5A">
                <a:alpha val="6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41080" y="475488"/>
            <a:ext cx="2834640" cy="2834640"/>
          </a:xfrm>
          <a:prstGeom prst="arc">
            <a:avLst/>
          </a:prstGeom>
          <a:solidFill>
            <a:srgbClr val="08131F">
              <a:alpha val="0"/>
            </a:srgbClr>
          </a:solidFill>
          <a:ln w="10160">
            <a:solidFill>
              <a:srgbClr val="2DE2D1">
                <a:alpha val="2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38160" y="731520"/>
            <a:ext cx="3291840" cy="0"/>
          </a:xfrm>
          <a:prstGeom prst="line">
            <a:avLst/>
          </a:prstGeom>
          <a:noFill/>
          <a:ln w="12700">
            <a:solidFill>
              <a:srgbClr val="123D5A">
                <a:alpha val="55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320040"/>
            <a:ext cx="71323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Initial market: regulated operations with visible authority pain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12648" y="877824"/>
            <a:ext cx="77724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Ratatosk sells into the moment when migration, compliance, integration, or AI makes ambiguity expensive.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22960" y="1508760"/>
            <a:ext cx="4983480" cy="1234440"/>
          </a:xfrm>
          <a:prstGeom prst="roundRect">
            <a:avLst>
              <a:gd name="adj" fmla="val 5926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B5A7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78992" y="1719072"/>
            <a:ext cx="448056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Defense-adjacent manufacturing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78992" y="2112264"/>
            <a:ext cx="416052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3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CMMC, CUI, audit traceability</a:t>
            </a:r>
            <a:endParaRPr lang="en-US" sz="1230" dirty="0"/>
          </a:p>
        </p:txBody>
      </p:sp>
      <p:sp>
        <p:nvSpPr>
          <p:cNvPr id="12" name="Shape 10"/>
          <p:cNvSpPr/>
          <p:nvPr/>
        </p:nvSpPr>
        <p:spPr>
          <a:xfrm>
            <a:off x="822960" y="3246120"/>
            <a:ext cx="4983480" cy="1234440"/>
          </a:xfrm>
          <a:prstGeom prst="roundRect">
            <a:avLst>
              <a:gd name="adj" fmla="val 5926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B5A7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78992" y="3456432"/>
            <a:ext cx="448056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Aerospace &amp; precision machining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078992" y="3849624"/>
            <a:ext cx="416052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3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AS9100, first article, quality gates</a:t>
            </a:r>
            <a:endParaRPr lang="en-US" sz="1230" dirty="0"/>
          </a:p>
        </p:txBody>
      </p:sp>
      <p:sp>
        <p:nvSpPr>
          <p:cNvPr id="15" name="Shape 13"/>
          <p:cNvSpPr/>
          <p:nvPr/>
        </p:nvSpPr>
        <p:spPr>
          <a:xfrm>
            <a:off x="6400800" y="1508760"/>
            <a:ext cx="4983480" cy="1234440"/>
          </a:xfrm>
          <a:prstGeom prst="roundRect">
            <a:avLst>
              <a:gd name="adj" fmla="val 5926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B5A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56832" y="1719072"/>
            <a:ext cx="448056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 manufacturing corridor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656832" y="2112264"/>
            <a:ext cx="416052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3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MANTEC member network, MEP, 50–500 employee shops</a:t>
            </a:r>
            <a:endParaRPr lang="en-US" sz="1230" dirty="0"/>
          </a:p>
        </p:txBody>
      </p:sp>
      <p:sp>
        <p:nvSpPr>
          <p:cNvPr id="18" name="Shape 16"/>
          <p:cNvSpPr/>
          <p:nvPr/>
        </p:nvSpPr>
        <p:spPr>
          <a:xfrm>
            <a:off x="6400800" y="3246120"/>
            <a:ext cx="4983480" cy="1234440"/>
          </a:xfrm>
          <a:prstGeom prst="roundRect">
            <a:avLst>
              <a:gd name="adj" fmla="val 5926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F6C65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656832" y="3456432"/>
            <a:ext cx="448056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6C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Implementation partners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656832" y="3849624"/>
            <a:ext cx="416052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3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SIs, ERP consultants, fractional CIOs</a:t>
            </a:r>
            <a:endParaRPr lang="en-US" sz="1230" dirty="0"/>
          </a:p>
        </p:txBody>
      </p:sp>
      <p:sp>
        <p:nvSpPr>
          <p:cNvPr id="21" name="Shape 19"/>
          <p:cNvSpPr/>
          <p:nvPr/>
        </p:nvSpPr>
        <p:spPr>
          <a:xfrm>
            <a:off x="1097280" y="5074920"/>
            <a:ext cx="9966960" cy="685800"/>
          </a:xfrm>
          <a:prstGeom prst="roundRect">
            <a:avLst>
              <a:gd name="adj" fmla="val 10667"/>
            </a:avLst>
          </a:prstGeom>
          <a:solidFill>
            <a:srgbClr val="06111C">
              <a:alpha val="95000"/>
            </a:srgbClr>
          </a:solidFill>
          <a:ln w="12700">
            <a:solidFill>
              <a:srgbClr val="2DE2D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417320" y="5276088"/>
            <a:ext cx="923544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Near-term wedge: paid Ratatosk diagnostics convert into Yggdrasil Validation Cohort pilots. PA-grown product for PA-grown manufacturers.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594360" y="6473952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• Investor Deck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81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31F"/>
          </a:solidFill>
          <a:ln w="12700">
            <a:solidFill>
              <a:srgbClr val="0813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DE2D1"/>
          </a:solidFill>
          <a:ln w="12700">
            <a:solidFill>
              <a:srgbClr val="2DE2D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75320" y="137160"/>
            <a:ext cx="3611880" cy="3611880"/>
          </a:xfrm>
          <a:prstGeom prst="arc">
            <a:avLst/>
          </a:prstGeom>
          <a:solidFill>
            <a:srgbClr val="08131F">
              <a:alpha val="0"/>
            </a:srgbClr>
          </a:solidFill>
          <a:ln w="13970">
            <a:solidFill>
              <a:srgbClr val="123D5A">
                <a:alpha val="6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41080" y="475488"/>
            <a:ext cx="2834640" cy="2834640"/>
          </a:xfrm>
          <a:prstGeom prst="arc">
            <a:avLst/>
          </a:prstGeom>
          <a:solidFill>
            <a:srgbClr val="08131F">
              <a:alpha val="0"/>
            </a:srgbClr>
          </a:solidFill>
          <a:ln w="10160">
            <a:solidFill>
              <a:srgbClr val="2DE2D1">
                <a:alpha val="2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38160" y="731520"/>
            <a:ext cx="3291840" cy="0"/>
          </a:xfrm>
          <a:prstGeom prst="line">
            <a:avLst/>
          </a:prstGeom>
          <a:noFill/>
          <a:ln w="12700">
            <a:solidFill>
              <a:srgbClr val="123D5A">
                <a:alpha val="55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320040"/>
            <a:ext cx="71323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Business model: services-led proof, platform-led expansion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12648" y="877824"/>
            <a:ext cx="77724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Ratatosk creates revenue and proprietary insight before full platform displacement is required.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68680" y="1325880"/>
            <a:ext cx="10378440" cy="566928"/>
          </a:xfrm>
          <a:prstGeom prst="roundRect">
            <a:avLst>
              <a:gd name="adj" fmla="val 12903"/>
            </a:avLst>
          </a:prstGeom>
          <a:solidFill>
            <a:srgbClr val="071523">
              <a:alpha val="92000"/>
            </a:srgbClr>
          </a:solidFill>
          <a:ln w="12700">
            <a:solidFill>
              <a:srgbClr val="244A6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0" y="1481328"/>
            <a:ext cx="27432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Ratatosk diagnostic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160520" y="1481328"/>
            <a:ext cx="201168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Fixed project fee</a:t>
            </a:r>
            <a:endParaRPr lang="en-US" sz="1220" dirty="0"/>
          </a:p>
        </p:txBody>
      </p:sp>
      <p:sp>
        <p:nvSpPr>
          <p:cNvPr id="12" name="Text 10"/>
          <p:cNvSpPr/>
          <p:nvPr/>
        </p:nvSpPr>
        <p:spPr>
          <a:xfrm>
            <a:off x="6400800" y="1481328"/>
            <a:ext cx="420624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8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Fast proof and artifact generation</a:t>
            </a:r>
            <a:endParaRPr lang="en-US" sz="1180" dirty="0"/>
          </a:p>
        </p:txBody>
      </p:sp>
      <p:sp>
        <p:nvSpPr>
          <p:cNvPr id="13" name="Shape 11"/>
          <p:cNvSpPr/>
          <p:nvPr/>
        </p:nvSpPr>
        <p:spPr>
          <a:xfrm>
            <a:off x="868680" y="2112264"/>
            <a:ext cx="10378440" cy="566928"/>
          </a:xfrm>
          <a:prstGeom prst="roundRect">
            <a:avLst>
              <a:gd name="adj" fmla="val 12903"/>
            </a:avLst>
          </a:prstGeom>
          <a:solidFill>
            <a:srgbClr val="071523">
              <a:alpha val="92000"/>
            </a:srgbClr>
          </a:solidFill>
          <a:ln w="12700">
            <a:solidFill>
              <a:srgbClr val="244A6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97280" y="2267712"/>
            <a:ext cx="27432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Yggdrasil ERP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160520" y="2267712"/>
            <a:ext cx="201168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$30K + ($10K × Footprint) annual; $35K pilot</a:t>
            </a:r>
            <a:endParaRPr lang="en-US" sz="1220" dirty="0"/>
          </a:p>
        </p:txBody>
      </p:sp>
      <p:sp>
        <p:nvSpPr>
          <p:cNvPr id="16" name="Text 14"/>
          <p:cNvSpPr/>
          <p:nvPr/>
        </p:nvSpPr>
        <p:spPr>
          <a:xfrm>
            <a:off x="6400800" y="2267712"/>
            <a:ext cx="420624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8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All 10 modules + OPE included; full audit log</a:t>
            </a:r>
            <a:endParaRPr lang="en-US" sz="1180" dirty="0"/>
          </a:p>
        </p:txBody>
      </p:sp>
      <p:sp>
        <p:nvSpPr>
          <p:cNvPr id="17" name="Shape 15"/>
          <p:cNvSpPr/>
          <p:nvPr/>
        </p:nvSpPr>
        <p:spPr>
          <a:xfrm>
            <a:off x="868680" y="2898648"/>
            <a:ext cx="10378440" cy="566928"/>
          </a:xfrm>
          <a:prstGeom prst="roundRect">
            <a:avLst>
              <a:gd name="adj" fmla="val 12903"/>
            </a:avLst>
          </a:prstGeom>
          <a:solidFill>
            <a:srgbClr val="071523">
              <a:alpha val="92000"/>
            </a:srgbClr>
          </a:solidFill>
          <a:ln w="12700">
            <a:solidFill>
              <a:srgbClr val="244A6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97280" y="3054096"/>
            <a:ext cx="27432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Ragnarok migration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4160520" y="3054096"/>
            <a:ext cx="201168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Project fee; 1:1 activation credit</a:t>
            </a:r>
            <a:endParaRPr lang="en-US" sz="1220" dirty="0"/>
          </a:p>
        </p:txBody>
      </p:sp>
      <p:sp>
        <p:nvSpPr>
          <p:cNvPr id="20" name="Text 18"/>
          <p:cNvSpPr/>
          <p:nvPr/>
        </p:nvSpPr>
        <p:spPr>
          <a:xfrm>
            <a:off x="6400800" y="3054096"/>
            <a:ext cx="420624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8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Governed legacy → canonical schema migration</a:t>
            </a:r>
            <a:endParaRPr lang="en-US" sz="1180" dirty="0"/>
          </a:p>
        </p:txBody>
      </p:sp>
      <p:sp>
        <p:nvSpPr>
          <p:cNvPr id="21" name="Shape 19"/>
          <p:cNvSpPr/>
          <p:nvPr/>
        </p:nvSpPr>
        <p:spPr>
          <a:xfrm>
            <a:off x="868680" y="3685032"/>
            <a:ext cx="10378440" cy="566928"/>
          </a:xfrm>
          <a:prstGeom prst="roundRect">
            <a:avLst>
              <a:gd name="adj" fmla="val 12903"/>
            </a:avLst>
          </a:prstGeom>
          <a:solidFill>
            <a:srgbClr val="071523">
              <a:alpha val="92000"/>
            </a:srgbClr>
          </a:solidFill>
          <a:ln w="12700">
            <a:solidFill>
              <a:srgbClr val="244A6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97280" y="3840480"/>
            <a:ext cx="27432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Norn pilot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4160520" y="3840480"/>
            <a:ext cx="201168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$299/mo Business tier</a:t>
            </a:r>
            <a:endParaRPr lang="en-US" sz="1220" dirty="0"/>
          </a:p>
        </p:txBody>
      </p:sp>
      <p:sp>
        <p:nvSpPr>
          <p:cNvPr id="24" name="Text 22"/>
          <p:cNvSpPr/>
          <p:nvPr/>
        </p:nvSpPr>
        <p:spPr>
          <a:xfrm>
            <a:off x="6400800" y="3840480"/>
            <a:ext cx="420624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8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Contract pilot; 5-org cap</a:t>
            </a:r>
            <a:endParaRPr lang="en-US" sz="1180" dirty="0"/>
          </a:p>
        </p:txBody>
      </p:sp>
      <p:sp>
        <p:nvSpPr>
          <p:cNvPr id="25" name="Shape 23"/>
          <p:cNvSpPr/>
          <p:nvPr/>
        </p:nvSpPr>
        <p:spPr>
          <a:xfrm>
            <a:off x="868680" y="4471416"/>
            <a:ext cx="10378440" cy="566928"/>
          </a:xfrm>
          <a:prstGeom prst="roundRect">
            <a:avLst>
              <a:gd name="adj" fmla="val 12903"/>
            </a:avLst>
          </a:prstGeom>
          <a:solidFill>
            <a:srgbClr val="071523">
              <a:alpha val="92000"/>
            </a:srgbClr>
          </a:solidFill>
          <a:ln w="12700">
            <a:solidFill>
              <a:srgbClr val="244A6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97280" y="4626864"/>
            <a:ext cx="27432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Roadmap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4160520" y="4626864"/>
            <a:ext cx="201168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Future revenue lines</a:t>
            </a:r>
            <a:endParaRPr lang="en-US" sz="1220" dirty="0"/>
          </a:p>
        </p:txBody>
      </p:sp>
      <p:sp>
        <p:nvSpPr>
          <p:cNvPr id="28" name="Text 26"/>
          <p:cNvSpPr/>
          <p:nvPr/>
        </p:nvSpPr>
        <p:spPr>
          <a:xfrm>
            <a:off x="6400800" y="4626864"/>
            <a:ext cx="420624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8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 channel, OPE-Norn integration, agent SDK</a:t>
            </a:r>
            <a:endParaRPr lang="en-US" sz="1180" dirty="0"/>
          </a:p>
        </p:txBody>
      </p:sp>
      <p:sp>
        <p:nvSpPr>
          <p:cNvPr id="29" name="Text 27"/>
          <p:cNvSpPr/>
          <p:nvPr/>
        </p:nvSpPr>
        <p:spPr>
          <a:xfrm>
            <a:off x="914400" y="5897880"/>
            <a:ext cx="1024128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GTM motion: founder-led pilots → SI/referrer channel → strategic platform conversations.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594360" y="6473952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• Investor Deck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81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31F"/>
          </a:solidFill>
          <a:ln w="12700">
            <a:solidFill>
              <a:srgbClr val="0813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DE2D1"/>
          </a:solidFill>
          <a:ln w="12700">
            <a:solidFill>
              <a:srgbClr val="2DE2D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75320" y="137160"/>
            <a:ext cx="3611880" cy="3611880"/>
          </a:xfrm>
          <a:prstGeom prst="arc">
            <a:avLst/>
          </a:prstGeom>
          <a:solidFill>
            <a:srgbClr val="08131F">
              <a:alpha val="0"/>
            </a:srgbClr>
          </a:solidFill>
          <a:ln w="13970">
            <a:solidFill>
              <a:srgbClr val="123D5A">
                <a:alpha val="6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41080" y="475488"/>
            <a:ext cx="2834640" cy="2834640"/>
          </a:xfrm>
          <a:prstGeom prst="arc">
            <a:avLst/>
          </a:prstGeom>
          <a:solidFill>
            <a:srgbClr val="08131F">
              <a:alpha val="0"/>
            </a:srgbClr>
          </a:solidFill>
          <a:ln w="10160">
            <a:solidFill>
              <a:srgbClr val="2DE2D1">
                <a:alpha val="2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38160" y="731520"/>
            <a:ext cx="3291840" cy="0"/>
          </a:xfrm>
          <a:prstGeom prst="line">
            <a:avLst/>
          </a:prstGeom>
          <a:noFill/>
          <a:ln w="12700">
            <a:solidFill>
              <a:srgbClr val="123D5A">
                <a:alpha val="55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320040"/>
            <a:ext cx="71323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Differentiation: not another layer above the mess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12648" y="877824"/>
            <a:ext cx="77724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Most adjacent tools observe, move, or interpret data. Mimir Labs governs what can become operational truth.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77240" y="1325880"/>
            <a:ext cx="228600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8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MDM / governance</a:t>
            </a:r>
            <a:endParaRPr lang="en-US" sz="1280" dirty="0"/>
          </a:p>
        </p:txBody>
      </p:sp>
      <p:sp>
        <p:nvSpPr>
          <p:cNvPr id="10" name="Text 8"/>
          <p:cNvSpPr/>
          <p:nvPr/>
        </p:nvSpPr>
        <p:spPr>
          <a:xfrm>
            <a:off x="3337560" y="1325880"/>
            <a:ext cx="338328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6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Manages definitions and stewardship</a:t>
            </a:r>
            <a:endParaRPr lang="en-US" sz="1160" dirty="0"/>
          </a:p>
        </p:txBody>
      </p:sp>
      <p:sp>
        <p:nvSpPr>
          <p:cNvPr id="11" name="Text 9"/>
          <p:cNvSpPr/>
          <p:nvPr/>
        </p:nvSpPr>
        <p:spPr>
          <a:xfrm>
            <a:off x="7040880" y="1325880"/>
            <a:ext cx="429768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6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Often stops before runtime action authority</a:t>
            </a:r>
            <a:endParaRPr lang="en-US" sz="1160" dirty="0"/>
          </a:p>
        </p:txBody>
      </p:sp>
      <p:sp>
        <p:nvSpPr>
          <p:cNvPr id="12" name="Shape 10"/>
          <p:cNvSpPr/>
          <p:nvPr/>
        </p:nvSpPr>
        <p:spPr>
          <a:xfrm>
            <a:off x="731520" y="1719072"/>
            <a:ext cx="10607040" cy="0"/>
          </a:xfrm>
          <a:prstGeom prst="line">
            <a:avLst/>
          </a:prstGeom>
          <a:noFill/>
          <a:ln w="7620">
            <a:solidFill>
              <a:srgbClr val="16344A"/>
            </a:solidFill>
            <a:prstDash val="solid"/>
            <a:headEnd type="none"/>
            <a:tailEnd type="none"/>
          </a:ln>
        </p:spPr>
      </p:sp>
      <p:sp>
        <p:nvSpPr>
          <p:cNvPr id="13" name="Text 11"/>
          <p:cNvSpPr/>
          <p:nvPr/>
        </p:nvSpPr>
        <p:spPr>
          <a:xfrm>
            <a:off x="777240" y="2130552"/>
            <a:ext cx="228600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8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iPaaS / data fabric</a:t>
            </a:r>
            <a:endParaRPr lang="en-US" sz="1280" dirty="0"/>
          </a:p>
        </p:txBody>
      </p:sp>
      <p:sp>
        <p:nvSpPr>
          <p:cNvPr id="14" name="Text 12"/>
          <p:cNvSpPr/>
          <p:nvPr/>
        </p:nvSpPr>
        <p:spPr>
          <a:xfrm>
            <a:off x="3337560" y="2130552"/>
            <a:ext cx="338328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6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Moves and reconciles data</a:t>
            </a:r>
            <a:endParaRPr lang="en-US" sz="1160" dirty="0"/>
          </a:p>
        </p:txBody>
      </p:sp>
      <p:sp>
        <p:nvSpPr>
          <p:cNvPr id="15" name="Text 13"/>
          <p:cNvSpPr/>
          <p:nvPr/>
        </p:nvSpPr>
        <p:spPr>
          <a:xfrm>
            <a:off x="7040880" y="2130552"/>
            <a:ext cx="429768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6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Translation is not agreement</a:t>
            </a:r>
            <a:endParaRPr lang="en-US" sz="1160" dirty="0"/>
          </a:p>
        </p:txBody>
      </p:sp>
      <p:sp>
        <p:nvSpPr>
          <p:cNvPr id="16" name="Shape 14"/>
          <p:cNvSpPr/>
          <p:nvPr/>
        </p:nvSpPr>
        <p:spPr>
          <a:xfrm>
            <a:off x="731520" y="2523744"/>
            <a:ext cx="10607040" cy="0"/>
          </a:xfrm>
          <a:prstGeom prst="line">
            <a:avLst/>
          </a:prstGeom>
          <a:noFill/>
          <a:ln w="7620">
            <a:solidFill>
              <a:srgbClr val="16344A"/>
            </a:solidFill>
            <a:prstDash val="solid"/>
            <a:headEnd type="none"/>
            <a:tailEnd type="none"/>
          </a:ln>
        </p:spPr>
      </p:sp>
      <p:sp>
        <p:nvSpPr>
          <p:cNvPr id="17" name="Text 15"/>
          <p:cNvSpPr/>
          <p:nvPr/>
        </p:nvSpPr>
        <p:spPr>
          <a:xfrm>
            <a:off x="777240" y="2935224"/>
            <a:ext cx="228600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8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Knowledge graphs / semantic layers</a:t>
            </a:r>
            <a:endParaRPr lang="en-US" sz="1280" dirty="0"/>
          </a:p>
        </p:txBody>
      </p:sp>
      <p:sp>
        <p:nvSpPr>
          <p:cNvPr id="18" name="Text 16"/>
          <p:cNvSpPr/>
          <p:nvPr/>
        </p:nvSpPr>
        <p:spPr>
          <a:xfrm>
            <a:off x="3337560" y="2935224"/>
            <a:ext cx="338328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6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Models relationships and meaning</a:t>
            </a:r>
            <a:endParaRPr lang="en-US" sz="1160" dirty="0"/>
          </a:p>
        </p:txBody>
      </p:sp>
      <p:sp>
        <p:nvSpPr>
          <p:cNvPr id="19" name="Text 17"/>
          <p:cNvSpPr/>
          <p:nvPr/>
        </p:nvSpPr>
        <p:spPr>
          <a:xfrm>
            <a:off x="7040880" y="2935224"/>
            <a:ext cx="429768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6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Usually downstream of operational ambiguity</a:t>
            </a:r>
            <a:endParaRPr lang="en-US" sz="1160" dirty="0"/>
          </a:p>
        </p:txBody>
      </p:sp>
      <p:sp>
        <p:nvSpPr>
          <p:cNvPr id="20" name="Shape 18"/>
          <p:cNvSpPr/>
          <p:nvPr/>
        </p:nvSpPr>
        <p:spPr>
          <a:xfrm>
            <a:off x="731520" y="3328416"/>
            <a:ext cx="10607040" cy="0"/>
          </a:xfrm>
          <a:prstGeom prst="line">
            <a:avLst/>
          </a:prstGeom>
          <a:noFill/>
          <a:ln w="7620">
            <a:solidFill>
              <a:srgbClr val="16344A"/>
            </a:solidFill>
            <a:prstDash val="solid"/>
            <a:headEnd type="none"/>
            <a:tailEnd type="none"/>
          </a:ln>
        </p:spPr>
      </p:sp>
      <p:sp>
        <p:nvSpPr>
          <p:cNvPr id="21" name="Text 19"/>
          <p:cNvSpPr/>
          <p:nvPr/>
        </p:nvSpPr>
        <p:spPr>
          <a:xfrm>
            <a:off x="777240" y="3739896"/>
            <a:ext cx="228600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8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 copilots / agents</a:t>
            </a:r>
            <a:endParaRPr lang="en-US" sz="1280" dirty="0"/>
          </a:p>
        </p:txBody>
      </p:sp>
      <p:sp>
        <p:nvSpPr>
          <p:cNvPr id="22" name="Text 20"/>
          <p:cNvSpPr/>
          <p:nvPr/>
        </p:nvSpPr>
        <p:spPr>
          <a:xfrm>
            <a:off x="3337560" y="3739896"/>
            <a:ext cx="338328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6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Retrieve and act through tools</a:t>
            </a:r>
            <a:endParaRPr lang="en-US" sz="1160" dirty="0"/>
          </a:p>
        </p:txBody>
      </p:sp>
      <p:sp>
        <p:nvSpPr>
          <p:cNvPr id="23" name="Text 21"/>
          <p:cNvSpPr/>
          <p:nvPr/>
        </p:nvSpPr>
        <p:spPr>
          <a:xfrm>
            <a:off x="7040880" y="3739896"/>
            <a:ext cx="429768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6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Context is not authority</a:t>
            </a:r>
            <a:endParaRPr lang="en-US" sz="1160" dirty="0"/>
          </a:p>
        </p:txBody>
      </p:sp>
      <p:sp>
        <p:nvSpPr>
          <p:cNvPr id="24" name="Shape 22"/>
          <p:cNvSpPr/>
          <p:nvPr/>
        </p:nvSpPr>
        <p:spPr>
          <a:xfrm>
            <a:off x="731520" y="4133088"/>
            <a:ext cx="10607040" cy="0"/>
          </a:xfrm>
          <a:prstGeom prst="line">
            <a:avLst/>
          </a:prstGeom>
          <a:noFill/>
          <a:ln w="7620">
            <a:solidFill>
              <a:srgbClr val="16344A"/>
            </a:solidFill>
            <a:prstDash val="solid"/>
            <a:headEnd type="none"/>
            <a:tailEnd type="none"/>
          </a:ln>
        </p:spPr>
      </p:sp>
      <p:sp>
        <p:nvSpPr>
          <p:cNvPr id="25" name="Text 23"/>
          <p:cNvSpPr/>
          <p:nvPr/>
        </p:nvSpPr>
        <p:spPr>
          <a:xfrm>
            <a:off x="777240" y="4544568"/>
            <a:ext cx="228600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8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Traditional ERP</a:t>
            </a:r>
            <a:endParaRPr lang="en-US" sz="1280" dirty="0"/>
          </a:p>
        </p:txBody>
      </p:sp>
      <p:sp>
        <p:nvSpPr>
          <p:cNvPr id="26" name="Text 24"/>
          <p:cNvSpPr/>
          <p:nvPr/>
        </p:nvSpPr>
        <p:spPr>
          <a:xfrm>
            <a:off x="3337560" y="4544568"/>
            <a:ext cx="338328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6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Records transactions and configurations</a:t>
            </a:r>
            <a:endParaRPr lang="en-US" sz="1160" dirty="0"/>
          </a:p>
        </p:txBody>
      </p:sp>
      <p:sp>
        <p:nvSpPr>
          <p:cNvPr id="27" name="Text 25"/>
          <p:cNvSpPr/>
          <p:nvPr/>
        </p:nvSpPr>
        <p:spPr>
          <a:xfrm>
            <a:off x="7040880" y="4544568"/>
            <a:ext cx="429768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6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Business rules often live around the substrate</a:t>
            </a:r>
            <a:endParaRPr lang="en-US" sz="1160" dirty="0"/>
          </a:p>
        </p:txBody>
      </p:sp>
      <p:sp>
        <p:nvSpPr>
          <p:cNvPr id="28" name="Shape 26"/>
          <p:cNvSpPr/>
          <p:nvPr/>
        </p:nvSpPr>
        <p:spPr>
          <a:xfrm>
            <a:off x="731520" y="4937760"/>
            <a:ext cx="10607040" cy="0"/>
          </a:xfrm>
          <a:prstGeom prst="line">
            <a:avLst/>
          </a:prstGeom>
          <a:noFill/>
          <a:ln w="7620">
            <a:solidFill>
              <a:srgbClr val="16344A"/>
            </a:solidFill>
            <a:prstDash val="solid"/>
            <a:headEnd type="none"/>
            <a:tailEnd type="none"/>
          </a:ln>
        </p:spPr>
      </p:sp>
      <p:sp>
        <p:nvSpPr>
          <p:cNvPr id="29" name="Shape 27"/>
          <p:cNvSpPr/>
          <p:nvPr/>
        </p:nvSpPr>
        <p:spPr>
          <a:xfrm>
            <a:off x="1097280" y="5623560"/>
            <a:ext cx="9966960" cy="502920"/>
          </a:xfrm>
          <a:prstGeom prst="roundRect">
            <a:avLst>
              <a:gd name="adj" fmla="val 14545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F6C65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371600" y="5788152"/>
            <a:ext cx="941832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6C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Moat: canonical manifests + deterministic enforcement + audit replay + operational state-machine authority.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594360" y="6473952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• Investor Deck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81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31F"/>
          </a:solidFill>
          <a:ln w="12700">
            <a:solidFill>
              <a:srgbClr val="0813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DE2D1"/>
          </a:solidFill>
          <a:ln w="12700">
            <a:solidFill>
              <a:srgbClr val="2DE2D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75320" y="137160"/>
            <a:ext cx="3611880" cy="3611880"/>
          </a:xfrm>
          <a:prstGeom prst="arc">
            <a:avLst/>
          </a:prstGeom>
          <a:solidFill>
            <a:srgbClr val="08131F">
              <a:alpha val="0"/>
            </a:srgbClr>
          </a:solidFill>
          <a:ln w="13970">
            <a:solidFill>
              <a:srgbClr val="123D5A">
                <a:alpha val="6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41080" y="475488"/>
            <a:ext cx="2834640" cy="2834640"/>
          </a:xfrm>
          <a:prstGeom prst="arc">
            <a:avLst/>
          </a:prstGeom>
          <a:solidFill>
            <a:srgbClr val="08131F">
              <a:alpha val="0"/>
            </a:srgbClr>
          </a:solidFill>
          <a:ln w="10160">
            <a:solidFill>
              <a:srgbClr val="2DE2D1">
                <a:alpha val="2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38160" y="731520"/>
            <a:ext cx="3291840" cy="0"/>
          </a:xfrm>
          <a:prstGeom prst="line">
            <a:avLst/>
          </a:prstGeom>
          <a:noFill/>
          <a:ln w="12700">
            <a:solidFill>
              <a:srgbClr val="123D5A">
                <a:alpha val="55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320040"/>
            <a:ext cx="71323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Current proof points and near-term milestones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12648" y="877824"/>
            <a:ext cx="77724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platform has moved from thesis to architecture to sellable wedge.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22960" y="1417320"/>
            <a:ext cx="10607040" cy="512064"/>
          </a:xfrm>
          <a:prstGeom prst="roundRect">
            <a:avLst>
              <a:gd name="adj" fmla="val 14286"/>
            </a:avLst>
          </a:prstGeom>
          <a:solidFill>
            <a:srgbClr val="06111C">
              <a:alpha val="93000"/>
            </a:srgbClr>
          </a:solidFill>
          <a:ln w="12700">
            <a:solidFill>
              <a:srgbClr val="244A6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51560" y="1563624"/>
            <a:ext cx="1097280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80" b="1" dirty="0">
                <a:solidFill>
                  <a:srgbClr val="F6C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Built and shipping (alpha)</a:t>
            </a:r>
            <a:endParaRPr lang="en-US" sz="1180" dirty="0"/>
          </a:p>
        </p:txBody>
      </p:sp>
      <p:sp>
        <p:nvSpPr>
          <p:cNvPr id="11" name="Text 9"/>
          <p:cNvSpPr/>
          <p:nvPr/>
        </p:nvSpPr>
        <p:spPr>
          <a:xfrm>
            <a:off x="2286000" y="1554480"/>
            <a:ext cx="86868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Six-tool suite: Yggdrasil ERP (323 tables, 10 modules, Qt + Next.js, 150+ endpoints, OPE governance), Ratatosk, Ragnarok, Bifrost, Jormungandr, Norn. Mimisbrunnr semantic model unifies all six.</a:t>
            </a:r>
            <a:endParaRPr lang="en-US" sz="1220" dirty="0"/>
          </a:p>
        </p:txBody>
      </p:sp>
      <p:sp>
        <p:nvSpPr>
          <p:cNvPr id="12" name="Shape 10"/>
          <p:cNvSpPr/>
          <p:nvPr/>
        </p:nvSpPr>
        <p:spPr>
          <a:xfrm>
            <a:off x="822960" y="2148840"/>
            <a:ext cx="10607040" cy="512064"/>
          </a:xfrm>
          <a:prstGeom prst="roundRect">
            <a:avLst>
              <a:gd name="adj" fmla="val 14286"/>
            </a:avLst>
          </a:prstGeom>
          <a:solidFill>
            <a:srgbClr val="06111C">
              <a:alpha val="93000"/>
            </a:srgbClr>
          </a:solidFill>
          <a:ln w="12700">
            <a:solidFill>
              <a:srgbClr val="244A6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51560" y="2295144"/>
            <a:ext cx="1097280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80" b="1" dirty="0">
                <a:solidFill>
                  <a:srgbClr val="F6C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 shipped May 2026</a:t>
            </a:r>
            <a:endParaRPr lang="en-US" sz="1180" dirty="0"/>
          </a:p>
        </p:txBody>
      </p:sp>
      <p:sp>
        <p:nvSpPr>
          <p:cNvPr id="14" name="Text 12"/>
          <p:cNvSpPr/>
          <p:nvPr/>
        </p:nvSpPr>
        <p:spPr>
          <a:xfrm>
            <a:off x="2286000" y="2286000"/>
            <a:ext cx="86868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9,500+ line commit: Policy lifecycle, Named Conditions, Phases, multi-action, extension capture, ~40 routes, 8 Standard Library templates.</a:t>
            </a:r>
            <a:endParaRPr lang="en-US" sz="1220" dirty="0"/>
          </a:p>
        </p:txBody>
      </p:sp>
      <p:sp>
        <p:nvSpPr>
          <p:cNvPr id="15" name="Shape 13"/>
          <p:cNvSpPr/>
          <p:nvPr/>
        </p:nvSpPr>
        <p:spPr>
          <a:xfrm>
            <a:off x="822960" y="2880360"/>
            <a:ext cx="10607040" cy="512064"/>
          </a:xfrm>
          <a:prstGeom prst="roundRect">
            <a:avLst>
              <a:gd name="adj" fmla="val 14286"/>
            </a:avLst>
          </a:prstGeom>
          <a:solidFill>
            <a:srgbClr val="06111C">
              <a:alpha val="93000"/>
            </a:srgbClr>
          </a:solidFill>
          <a:ln w="12700">
            <a:solidFill>
              <a:srgbClr val="244A6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51560" y="3026664"/>
            <a:ext cx="1097280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80" b="1" dirty="0">
                <a:solidFill>
                  <a:srgbClr val="F6C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Multi-tenant infrastructure</a:t>
            </a:r>
            <a:endParaRPr lang="en-US" sz="1180" dirty="0"/>
          </a:p>
        </p:txBody>
      </p:sp>
      <p:sp>
        <p:nvSpPr>
          <p:cNvPr id="17" name="Text 15"/>
          <p:cNvSpPr/>
          <p:nvPr/>
        </p:nvSpPr>
        <p:spPr>
          <a:xfrm>
            <a:off x="2286000" y="3017520"/>
            <a:ext cx="86868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Live VPS: RedPanda event mesh, Cloudflare Tunnel ingress, Caddy proxy, Go mesh-server. CMMC Level 1 attestation complete.</a:t>
            </a:r>
            <a:endParaRPr lang="en-US" sz="1220" dirty="0"/>
          </a:p>
        </p:txBody>
      </p:sp>
      <p:sp>
        <p:nvSpPr>
          <p:cNvPr id="18" name="Shape 16"/>
          <p:cNvSpPr/>
          <p:nvPr/>
        </p:nvSpPr>
        <p:spPr>
          <a:xfrm>
            <a:off x="822960" y="3611880"/>
            <a:ext cx="10607040" cy="512064"/>
          </a:xfrm>
          <a:prstGeom prst="roundRect">
            <a:avLst>
              <a:gd name="adj" fmla="val 14286"/>
            </a:avLst>
          </a:prstGeom>
          <a:solidFill>
            <a:srgbClr val="06111C">
              <a:alpha val="93000"/>
            </a:srgbClr>
          </a:solidFill>
          <a:ln w="12700">
            <a:solidFill>
              <a:srgbClr val="244A6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51560" y="3758184"/>
            <a:ext cx="1097280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80" b="1" dirty="0">
                <a:solidFill>
                  <a:srgbClr val="F6C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Validated externally</a:t>
            </a:r>
            <a:endParaRPr lang="en-US" sz="1180" dirty="0"/>
          </a:p>
        </p:txBody>
      </p:sp>
      <p:sp>
        <p:nvSpPr>
          <p:cNvPr id="20" name="Text 18"/>
          <p:cNvSpPr/>
          <p:nvPr/>
        </p:nvSpPr>
        <p:spPr>
          <a:xfrm>
            <a:off x="2286000" y="3749040"/>
            <a:ext cx="86868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Diginomica's Jon Reed publicly endorsed indie AI-native enterprise builders (Chris named) on Raven Intelligence cast, May 2026. Crunchbase top 100k. CAIP-HE alignment documented.</a:t>
            </a:r>
            <a:endParaRPr lang="en-US" sz="1220" dirty="0"/>
          </a:p>
        </p:txBody>
      </p:sp>
      <p:sp>
        <p:nvSpPr>
          <p:cNvPr id="21" name="Shape 19"/>
          <p:cNvSpPr/>
          <p:nvPr/>
        </p:nvSpPr>
        <p:spPr>
          <a:xfrm>
            <a:off x="822960" y="4343400"/>
            <a:ext cx="10607040" cy="512064"/>
          </a:xfrm>
          <a:prstGeom prst="roundRect">
            <a:avLst>
              <a:gd name="adj" fmla="val 14286"/>
            </a:avLst>
          </a:prstGeom>
          <a:solidFill>
            <a:srgbClr val="06111C">
              <a:alpha val="93000"/>
            </a:srgbClr>
          </a:solidFill>
          <a:ln w="12700">
            <a:solidFill>
              <a:srgbClr val="244A6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51560" y="4489704"/>
            <a:ext cx="1097280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80" b="1" dirty="0">
                <a:solidFill>
                  <a:srgbClr val="F6C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 market</a:t>
            </a:r>
            <a:endParaRPr lang="en-US" sz="1180" dirty="0"/>
          </a:p>
        </p:txBody>
      </p:sp>
      <p:sp>
        <p:nvSpPr>
          <p:cNvPr id="23" name="Text 21"/>
          <p:cNvSpPr/>
          <p:nvPr/>
        </p:nvSpPr>
        <p:spPr>
          <a:xfrm>
            <a:off x="2286000" y="4480560"/>
            <a:ext cx="86868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Yggdrasil Validation Cohort waitlist live — $15K reservation deposit, 1:1 credit against activation. Selecting for fit; not auto-onboarding.</a:t>
            </a:r>
            <a:endParaRPr lang="en-US" sz="1220" dirty="0"/>
          </a:p>
        </p:txBody>
      </p:sp>
      <p:sp>
        <p:nvSpPr>
          <p:cNvPr id="24" name="Text 22"/>
          <p:cNvSpPr/>
          <p:nvPr/>
        </p:nvSpPr>
        <p:spPr>
          <a:xfrm>
            <a:off x="914400" y="5715000"/>
            <a:ext cx="10241280" cy="3931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Next milestone: 2–3 paid Ratatosk workshops, first Yggdrasil pilot conversion, SOC 2 Type I readiness, first engineering hire.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594360" y="6473952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• Investor Deck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81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31F"/>
          </a:solidFill>
          <a:ln w="12700">
            <a:solidFill>
              <a:srgbClr val="0813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DE2D1"/>
          </a:solidFill>
          <a:ln w="12700">
            <a:solidFill>
              <a:srgbClr val="2DE2D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75320" y="137160"/>
            <a:ext cx="3611880" cy="3611880"/>
          </a:xfrm>
          <a:prstGeom prst="arc">
            <a:avLst/>
          </a:prstGeom>
          <a:solidFill>
            <a:srgbClr val="08131F">
              <a:alpha val="0"/>
            </a:srgbClr>
          </a:solidFill>
          <a:ln w="13970">
            <a:solidFill>
              <a:srgbClr val="123D5A">
                <a:alpha val="6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41080" y="475488"/>
            <a:ext cx="2834640" cy="2834640"/>
          </a:xfrm>
          <a:prstGeom prst="arc">
            <a:avLst/>
          </a:prstGeom>
          <a:solidFill>
            <a:srgbClr val="08131F">
              <a:alpha val="0"/>
            </a:srgbClr>
          </a:solidFill>
          <a:ln w="10160">
            <a:solidFill>
              <a:srgbClr val="2DE2D1">
                <a:alpha val="2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38160" y="731520"/>
            <a:ext cx="3291840" cy="0"/>
          </a:xfrm>
          <a:prstGeom prst="line">
            <a:avLst/>
          </a:prstGeom>
          <a:noFill/>
          <a:ln w="12700">
            <a:solidFill>
              <a:srgbClr val="123D5A">
                <a:alpha val="55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320040"/>
            <a:ext cx="71323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ask: fund the first commercial proof of the authority-layer thesis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12648" y="877824"/>
            <a:ext cx="77724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of funds is intentionally narrow: pilots, product hardening, and partner-ready delivery.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68680" y="1417320"/>
            <a:ext cx="3063240" cy="4343400"/>
          </a:xfrm>
          <a:prstGeom prst="roundRect">
            <a:avLst>
              <a:gd name="adj" fmla="val 2388"/>
            </a:avLst>
          </a:prstGeom>
          <a:solidFill>
            <a:srgbClr val="06111C">
              <a:alpha val="95000"/>
            </a:srgbClr>
          </a:solidFill>
          <a:ln w="12700">
            <a:solidFill>
              <a:srgbClr val="F6C65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0" y="1700784"/>
            <a:ext cx="260604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6C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Raise target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097280" y="2194560"/>
            <a:ext cx="2377440" cy="8229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$1.0M strategic pre-seed / seed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1097280" y="3246120"/>
            <a:ext cx="2331720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Flexible structure: priced equity, SAFE, convertible, or BFTP/angel-led tranche. BFTP-tier proposal: $150–350K (detailed allocation in companion talking-points doc).</a:t>
            </a:r>
            <a:endParaRPr lang="en-US" sz="1220" dirty="0"/>
          </a:p>
        </p:txBody>
      </p:sp>
      <p:sp>
        <p:nvSpPr>
          <p:cNvPr id="13" name="Shape 11"/>
          <p:cNvSpPr/>
          <p:nvPr/>
        </p:nvSpPr>
        <p:spPr>
          <a:xfrm>
            <a:off x="4572000" y="1417320"/>
            <a:ext cx="3063240" cy="4343400"/>
          </a:xfrm>
          <a:prstGeom prst="roundRect">
            <a:avLst>
              <a:gd name="adj" fmla="val 2388"/>
            </a:avLst>
          </a:prstGeom>
          <a:solidFill>
            <a:srgbClr val="06111C">
              <a:alpha val="95000"/>
            </a:srgbClr>
          </a:solidFill>
          <a:ln w="12700">
            <a:solidFill>
              <a:srgbClr val="2DE2D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00600" y="1700784"/>
            <a:ext cx="260604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12-month goals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809744" y="2212848"/>
            <a:ext cx="2331720" cy="1645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3–5 paid Ratatosk workshops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First 2 Yggdrasil Validation Cohort pilots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Wave-1 OPE rollout (Finance / Quality / Purchasing)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SOC 2 Type I + first engineering hire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275320" y="1417320"/>
            <a:ext cx="3063240" cy="4343400"/>
          </a:xfrm>
          <a:prstGeom prst="roundRect">
            <a:avLst>
              <a:gd name="adj" fmla="val 2388"/>
            </a:avLst>
          </a:prstGeom>
          <a:solidFill>
            <a:srgbClr val="06111C">
              <a:alpha val="95000"/>
            </a:srgbClr>
          </a:solidFill>
          <a:ln w="12700">
            <a:solidFill>
              <a:srgbClr val="2DE2D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503920" y="1700784"/>
            <a:ext cx="260604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of funds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513064" y="2212848"/>
            <a:ext cx="2331720" cy="1645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First engineering hire (founder to BD + delivery)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Pilot delivery + SOC 2 readiness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PA manufacturing outbound (MANTEC, trade shows, digital)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Founder bridge ($4K/mo) + operating reserve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051560" y="6053328"/>
            <a:ext cx="1014984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730" b="1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has already built the reference implementation. This raise funds the first commercial proof — not the architecture, the customers.</a:t>
            </a:r>
            <a:endParaRPr lang="en-US" sz="1730" dirty="0"/>
          </a:p>
        </p:txBody>
      </p:sp>
      <p:sp>
        <p:nvSpPr>
          <p:cNvPr id="20" name="Text 18"/>
          <p:cNvSpPr/>
          <p:nvPr/>
        </p:nvSpPr>
        <p:spPr>
          <a:xfrm>
            <a:off x="594360" y="6473952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• Investor Deck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81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31F"/>
          </a:solidFill>
          <a:ln w="12700">
            <a:solidFill>
              <a:srgbClr val="0813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DE2D1"/>
          </a:solidFill>
          <a:ln w="12700">
            <a:solidFill>
              <a:srgbClr val="2DE2D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75320" y="137160"/>
            <a:ext cx="3611880" cy="3611880"/>
          </a:xfrm>
          <a:prstGeom prst="arc">
            <a:avLst/>
          </a:prstGeom>
          <a:solidFill>
            <a:srgbClr val="08131F">
              <a:alpha val="0"/>
            </a:srgbClr>
          </a:solidFill>
          <a:ln w="13970">
            <a:solidFill>
              <a:srgbClr val="123D5A">
                <a:alpha val="6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41080" y="475488"/>
            <a:ext cx="2834640" cy="2834640"/>
          </a:xfrm>
          <a:prstGeom prst="arc">
            <a:avLst/>
          </a:prstGeom>
          <a:solidFill>
            <a:srgbClr val="08131F">
              <a:alpha val="0"/>
            </a:srgbClr>
          </a:solidFill>
          <a:ln w="10160">
            <a:solidFill>
              <a:srgbClr val="2DE2D1">
                <a:alpha val="2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38160" y="731520"/>
            <a:ext cx="3291840" cy="0"/>
          </a:xfrm>
          <a:prstGeom prst="line">
            <a:avLst/>
          </a:prstGeom>
          <a:noFill/>
          <a:ln w="12700">
            <a:solidFill>
              <a:srgbClr val="123D5A">
                <a:alpha val="55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320040"/>
            <a:ext cx="71323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Market: $10B and growing 8–10% CAGR, with the SMB tier underserved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12648" y="877824"/>
            <a:ext cx="77724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Manufacturing ERP is a large, established market where mid-market manufacturers (10–500 employees) are systematically failed by incumbents. We sell into that gap.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68680" y="1417320"/>
            <a:ext cx="3108960" cy="3520440"/>
          </a:xfrm>
          <a:prstGeom prst="roundRect">
            <a:avLst>
              <a:gd name="adj" fmla="val 2353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B5A7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9848" y="1664208"/>
            <a:ext cx="269748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TAM — Global manufacturing ERP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078992" y="2148840"/>
            <a:ext cx="2377440" cy="1508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$10B+ market in 2024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8–10% CAGR through end of decade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Full ERP market $281B by 2034 (Fortune)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Digital transformation + Industry 4.0 tailwinds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26280" y="1417320"/>
            <a:ext cx="3108960" cy="3520440"/>
          </a:xfrm>
          <a:prstGeom prst="roundRect">
            <a:avLst>
              <a:gd name="adj" fmla="val 2353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B5A7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27448" y="1664208"/>
            <a:ext cx="269748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SAM — Mid-market manufacturing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736592" y="2148840"/>
            <a:ext cx="2377440" cy="1508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10–500 employee shops, US + EU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~30–40% of revenue, ~80% of customers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Concentrated in discrete + mixed-mode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AS9100, CMMC, ISO, ITAR regulated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183880" y="1417320"/>
            <a:ext cx="3108960" cy="3520440"/>
          </a:xfrm>
          <a:prstGeom prst="roundRect">
            <a:avLst>
              <a:gd name="adj" fmla="val 2353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B5A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85048" y="1664208"/>
            <a:ext cx="269748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SOM — PA + adjacent reachable in 36 months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394192" y="2148840"/>
            <a:ext cx="2377440" cy="1508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~3,500 qualifying manufacturers in PA / OH / MD / NJ / NY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Target: 50–150 paying customers by Year 5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Wedge via Ratatosk workshops; convert ~30% to platform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PA-grown, MANTEC-aligned, US-hosted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15568" y="5532120"/>
            <a:ext cx="9966960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Mid-market manufacturers pay $45K–$250K/yr to incumbents (Epicor, Sage, Infor) for systems they actively distrust. Same budget, better product.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594360" y="6473952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• Investor Deck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81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31F"/>
          </a:solidFill>
          <a:ln w="12700">
            <a:solidFill>
              <a:srgbClr val="0813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DE2D1"/>
          </a:solidFill>
          <a:ln w="12700">
            <a:solidFill>
              <a:srgbClr val="2DE2D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75320" y="137160"/>
            <a:ext cx="3611880" cy="3611880"/>
          </a:xfrm>
          <a:prstGeom prst="arc">
            <a:avLst/>
          </a:prstGeom>
          <a:solidFill>
            <a:srgbClr val="08131F">
              <a:alpha val="0"/>
            </a:srgbClr>
          </a:solidFill>
          <a:ln w="13970">
            <a:solidFill>
              <a:srgbClr val="123D5A">
                <a:alpha val="6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41080" y="475488"/>
            <a:ext cx="2834640" cy="2834640"/>
          </a:xfrm>
          <a:prstGeom prst="arc">
            <a:avLst/>
          </a:prstGeom>
          <a:solidFill>
            <a:srgbClr val="08131F">
              <a:alpha val="0"/>
            </a:srgbClr>
          </a:solidFill>
          <a:ln w="10160">
            <a:solidFill>
              <a:srgbClr val="2DE2D1">
                <a:alpha val="2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38160" y="731520"/>
            <a:ext cx="3291840" cy="0"/>
          </a:xfrm>
          <a:prstGeom prst="line">
            <a:avLst/>
          </a:prstGeom>
          <a:noFill/>
          <a:ln w="12700">
            <a:solidFill>
              <a:srgbClr val="123D5A">
                <a:alpha val="55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320040"/>
            <a:ext cx="71323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GTM phasing: services-led wedge, platform-led expansion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12648" y="877824"/>
            <a:ext cx="77724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Each phase builds the customer relationship and proof set the next phase needs. We do not need to win an ERP buyer in month one.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22960" y="1417320"/>
            <a:ext cx="5074920" cy="960120"/>
          </a:xfrm>
          <a:prstGeom prst="roundRect">
            <a:avLst>
              <a:gd name="adj" fmla="val 7619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8475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51560" y="1581912"/>
            <a:ext cx="448056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Phase 1 — Wedge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1051560" y="1911096"/>
            <a:ext cx="443484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2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Norn self-serve SaaS (free → $1,499/mo). No IT approval, no sales cycle. Active Q4 2026.</a:t>
            </a:r>
            <a:endParaRPr lang="en-US" sz="1120" dirty="0"/>
          </a:p>
        </p:txBody>
      </p:sp>
      <p:sp>
        <p:nvSpPr>
          <p:cNvPr id="12" name="Shape 10"/>
          <p:cNvSpPr/>
          <p:nvPr/>
        </p:nvSpPr>
        <p:spPr>
          <a:xfrm>
            <a:off x="6446520" y="1417320"/>
            <a:ext cx="5074920" cy="960120"/>
          </a:xfrm>
          <a:prstGeom prst="roundRect">
            <a:avLst>
              <a:gd name="adj" fmla="val 7619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847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75120" y="1581912"/>
            <a:ext cx="448056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Phase 2 — Services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6675120" y="1911096"/>
            <a:ext cx="443484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2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Ratatosk governance workshops, $5–12.5K. Reveals migration needs, builds account intelligence. Q3 2026.</a:t>
            </a:r>
            <a:endParaRPr lang="en-US" sz="1120" dirty="0"/>
          </a:p>
        </p:txBody>
      </p:sp>
      <p:sp>
        <p:nvSpPr>
          <p:cNvPr id="15" name="Shape 13"/>
          <p:cNvSpPr/>
          <p:nvPr/>
        </p:nvSpPr>
        <p:spPr>
          <a:xfrm>
            <a:off x="822960" y="2743200"/>
            <a:ext cx="5074920" cy="960120"/>
          </a:xfrm>
          <a:prstGeom prst="roundRect">
            <a:avLst>
              <a:gd name="adj" fmla="val 7619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8475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51560" y="2907792"/>
            <a:ext cx="448056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Phase 3 — Platform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1051560" y="3236976"/>
            <a:ext cx="443484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2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Ragnarok migrations + Bifrost integrations. 60% Ratatosk → Ragnarok attach, 25% → Bifrost. Q1 2027.</a:t>
            </a:r>
            <a:endParaRPr lang="en-US" sz="1120" dirty="0"/>
          </a:p>
        </p:txBody>
      </p:sp>
      <p:sp>
        <p:nvSpPr>
          <p:cNvPr id="18" name="Shape 16"/>
          <p:cNvSpPr/>
          <p:nvPr/>
        </p:nvSpPr>
        <p:spPr>
          <a:xfrm>
            <a:off x="6446520" y="2743200"/>
            <a:ext cx="5074920" cy="960120"/>
          </a:xfrm>
          <a:prstGeom prst="roundRect">
            <a:avLst>
              <a:gd name="adj" fmla="val 7619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8475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675120" y="2907792"/>
            <a:ext cx="448056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Phase 4 — ERP</a:t>
            </a:r>
            <a:endParaRPr lang="en-US" sz="1550" dirty="0"/>
          </a:p>
        </p:txBody>
      </p:sp>
      <p:sp>
        <p:nvSpPr>
          <p:cNvPr id="20" name="Text 18"/>
          <p:cNvSpPr/>
          <p:nvPr/>
        </p:nvSpPr>
        <p:spPr>
          <a:xfrm>
            <a:off x="6675120" y="3236976"/>
            <a:ext cx="443484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2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Yggdrasil ERP pilots ($35K) and full subscriptions. Footprint Score pricing. Q3 2027+.</a:t>
            </a:r>
            <a:endParaRPr lang="en-US" sz="1120" dirty="0"/>
          </a:p>
        </p:txBody>
      </p:sp>
      <p:sp>
        <p:nvSpPr>
          <p:cNvPr id="21" name="Shape 19"/>
          <p:cNvSpPr/>
          <p:nvPr/>
        </p:nvSpPr>
        <p:spPr>
          <a:xfrm>
            <a:off x="822960" y="4069080"/>
            <a:ext cx="5074920" cy="960120"/>
          </a:xfrm>
          <a:prstGeom prst="roundRect">
            <a:avLst>
              <a:gd name="adj" fmla="val 7619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8475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51560" y="4233672"/>
            <a:ext cx="448056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Pre-seed milestones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1051560" y="4562856"/>
            <a:ext cx="443484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2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3–5 Ratatosk workshops, 2 Yggdrasil pilots, Wave-1 OPE rollout, SOC 2 Type I, first engineering hire.</a:t>
            </a:r>
            <a:endParaRPr lang="en-US" sz="1120" dirty="0"/>
          </a:p>
        </p:txBody>
      </p:sp>
      <p:sp>
        <p:nvSpPr>
          <p:cNvPr id="24" name="Shape 22"/>
          <p:cNvSpPr/>
          <p:nvPr/>
        </p:nvSpPr>
        <p:spPr>
          <a:xfrm>
            <a:off x="6446520" y="4069080"/>
            <a:ext cx="5074920" cy="960120"/>
          </a:xfrm>
          <a:prstGeom prst="roundRect">
            <a:avLst>
              <a:gd name="adj" fmla="val 7619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8475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675120" y="4233672"/>
            <a:ext cx="448056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Series A milestones</a:t>
            </a:r>
            <a:endParaRPr lang="en-US" sz="1550" dirty="0"/>
          </a:p>
        </p:txBody>
      </p:sp>
      <p:sp>
        <p:nvSpPr>
          <p:cNvPr id="26" name="Text 24"/>
          <p:cNvSpPr/>
          <p:nvPr/>
        </p:nvSpPr>
        <p:spPr>
          <a:xfrm>
            <a:off x="6675120" y="4562856"/>
            <a:ext cx="443484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2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$500K ARR, 100 Norn paid accounts, 10 services engagements, 3 Yggdrasil tenants, Template Exchange live.</a:t>
            </a:r>
            <a:endParaRPr lang="en-US" sz="1120" dirty="0"/>
          </a:p>
        </p:txBody>
      </p:sp>
      <p:sp>
        <p:nvSpPr>
          <p:cNvPr id="27" name="Text 25"/>
          <p:cNvSpPr/>
          <p:nvPr/>
        </p:nvSpPr>
        <p:spPr>
          <a:xfrm>
            <a:off x="914400" y="5788152"/>
            <a:ext cx="102412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GTM motion: founder-led pilots → SI/referrer channel → strategic platform conversations. No partner channel before product is proven.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594360" y="6473952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• Investor Deck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81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31F"/>
          </a:solidFill>
          <a:ln w="12700">
            <a:solidFill>
              <a:srgbClr val="0813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DE2D1"/>
          </a:solidFill>
          <a:ln w="12700">
            <a:solidFill>
              <a:srgbClr val="2DE2D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75320" y="137160"/>
            <a:ext cx="3611880" cy="3611880"/>
          </a:xfrm>
          <a:prstGeom prst="arc">
            <a:avLst/>
          </a:prstGeom>
          <a:solidFill>
            <a:srgbClr val="08131F">
              <a:alpha val="0"/>
            </a:srgbClr>
          </a:solidFill>
          <a:ln w="13970">
            <a:solidFill>
              <a:srgbClr val="123D5A">
                <a:alpha val="6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41080" y="475488"/>
            <a:ext cx="2834640" cy="2834640"/>
          </a:xfrm>
          <a:prstGeom prst="arc">
            <a:avLst/>
          </a:prstGeom>
          <a:solidFill>
            <a:srgbClr val="08131F">
              <a:alpha val="0"/>
            </a:srgbClr>
          </a:solidFill>
          <a:ln w="10160">
            <a:solidFill>
              <a:srgbClr val="2DE2D1">
                <a:alpha val="2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38160" y="731520"/>
            <a:ext cx="3291840" cy="0"/>
          </a:xfrm>
          <a:prstGeom prst="line">
            <a:avLst/>
          </a:prstGeom>
          <a:noFill/>
          <a:ln w="12700">
            <a:solidFill>
              <a:srgbClr val="123D5A">
                <a:alpha val="55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320040"/>
            <a:ext cx="71323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Team: solo founder today, AI-augmented build, lean hire plan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12648" y="877824"/>
            <a:ext cx="77724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is one person and a deliberate development model. The platform exists because the founder lived inside the failures the doctrine refuses.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77240" y="1325880"/>
            <a:ext cx="4754880" cy="4480560"/>
          </a:xfrm>
          <a:prstGeom prst="roundRect">
            <a:avLst>
              <a:gd name="adj" fmla="val 1633"/>
            </a:avLst>
          </a:prstGeom>
          <a:solidFill>
            <a:srgbClr val="071523">
              <a:alpha val="94000"/>
            </a:srgbClr>
          </a:solidFill>
          <a:ln w="12700">
            <a:solidFill>
              <a:srgbClr val="2DE2D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591056"/>
            <a:ext cx="411480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Christopher "Doc" Gaither, Founder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024128" y="2057400"/>
            <a:ext cx="3886200" cy="2057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15 years in manufacturing operations — shop floor, planning, fighting legacy ERPs
</a:t>
            </a:r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United States Marine — disciplined process, mission-first
</a:t>
            </a:r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Mechanical engineer — systems thinking, tolerance reasoning
</a:t>
            </a:r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Solo C++ / Qt / TypeScript builder; AI-augmented velocity
</a:t>
            </a:r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Located in South Central Pennsylvania; available to operators in person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46520" y="1325880"/>
            <a:ext cx="4754880" cy="4480560"/>
          </a:xfrm>
          <a:prstGeom prst="roundRect">
            <a:avLst>
              <a:gd name="adj" fmla="val 1633"/>
            </a:avLst>
          </a:prstGeom>
          <a:solidFill>
            <a:srgbClr val="071523">
              <a:alpha val="94000"/>
            </a:srgbClr>
          </a:solidFill>
          <a:ln w="12700">
            <a:solidFill>
              <a:srgbClr val="F6C65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75120" y="1591056"/>
            <a:ext cx="411480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6C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Hiring plan (post-funding)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693408" y="2057400"/>
            <a:ext cx="3886200" cy="1874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Q3 2026: Sr. Backend Engineer (Bifrost CDC, Mimisbrunnr schema)
</a:t>
            </a:r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Q4 2026: Sr. Frontend Engineer (Norn web, self-serve onboarding)
</a:t>
            </a:r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Q1–Q2 2027: Sales / BD Lead + Customer Success
</a:t>
            </a:r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Year 3 target: 7 FTE; Year 5 target: 22 FTE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097280" y="6007608"/>
            <a:ext cx="992124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5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architecture, the doctrine, the manifests, the code — all real and reviewable. Bus-factor risk is named and addressed by the first hire, not deflected.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594360" y="6473952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• Investor Deck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17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81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31F"/>
          </a:solidFill>
          <a:ln w="12700">
            <a:solidFill>
              <a:srgbClr val="0813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DE2D1"/>
          </a:solidFill>
          <a:ln w="12700">
            <a:solidFill>
              <a:srgbClr val="2DE2D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75320" y="137160"/>
            <a:ext cx="3611880" cy="3611880"/>
          </a:xfrm>
          <a:prstGeom prst="arc">
            <a:avLst/>
          </a:prstGeom>
          <a:solidFill>
            <a:srgbClr val="08131F">
              <a:alpha val="0"/>
            </a:srgbClr>
          </a:solidFill>
          <a:ln w="13970">
            <a:solidFill>
              <a:srgbClr val="123D5A">
                <a:alpha val="6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41080" y="475488"/>
            <a:ext cx="2834640" cy="2834640"/>
          </a:xfrm>
          <a:prstGeom prst="arc">
            <a:avLst/>
          </a:prstGeom>
          <a:solidFill>
            <a:srgbClr val="08131F">
              <a:alpha val="0"/>
            </a:srgbClr>
          </a:solidFill>
          <a:ln w="10160">
            <a:solidFill>
              <a:srgbClr val="2DE2D1">
                <a:alpha val="2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38160" y="731520"/>
            <a:ext cx="3291840" cy="0"/>
          </a:xfrm>
          <a:prstGeom prst="line">
            <a:avLst/>
          </a:prstGeom>
          <a:noFill/>
          <a:ln w="12700">
            <a:solidFill>
              <a:srgbClr val="123D5A">
                <a:alpha val="55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320040"/>
            <a:ext cx="71323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5-year projections: $241K → $17.6M, cash-flow positive Year 2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12648" y="877824"/>
            <a:ext cx="77724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Five revenue lines (Norn SaaS / Ratatosk / Ragnarok / Bifrost / Yggdrasil) with services-led ramp and SaaS-dominant mix by Year 5.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22960" y="1417320"/>
            <a:ext cx="10607040" cy="512064"/>
          </a:xfrm>
          <a:prstGeom prst="roundRect">
            <a:avLst>
              <a:gd name="adj" fmla="val 14286"/>
            </a:avLst>
          </a:prstGeom>
          <a:solidFill>
            <a:srgbClr val="06111C">
              <a:alpha val="93000"/>
            </a:srgbClr>
          </a:solidFill>
          <a:ln w="12700">
            <a:solidFill>
              <a:srgbClr val="244A6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51560" y="1563624"/>
            <a:ext cx="1097280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80" b="1" dirty="0">
                <a:solidFill>
                  <a:srgbClr val="F6C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Year 1 — Foundation</a:t>
            </a:r>
            <a:endParaRPr lang="en-US" sz="1180" dirty="0"/>
          </a:p>
        </p:txBody>
      </p:sp>
      <p:sp>
        <p:nvSpPr>
          <p:cNvPr id="11" name="Text 9"/>
          <p:cNvSpPr/>
          <p:nvPr/>
        </p:nvSpPr>
        <p:spPr>
          <a:xfrm>
            <a:off x="2286000" y="1554480"/>
            <a:ext cx="86868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$241K total revenue. Solo founder. 3 Yggdrasil pilots, 4 Ratatosk workshops, 1 Ragnarok migration, Norn launches. Net (-$23K).</a:t>
            </a:r>
            <a:endParaRPr lang="en-US" sz="1220" dirty="0"/>
          </a:p>
        </p:txBody>
      </p:sp>
      <p:sp>
        <p:nvSpPr>
          <p:cNvPr id="12" name="Shape 10"/>
          <p:cNvSpPr/>
          <p:nvPr/>
        </p:nvSpPr>
        <p:spPr>
          <a:xfrm>
            <a:off x="822960" y="2148840"/>
            <a:ext cx="10607040" cy="512064"/>
          </a:xfrm>
          <a:prstGeom prst="roundRect">
            <a:avLst>
              <a:gd name="adj" fmla="val 14286"/>
            </a:avLst>
          </a:prstGeom>
          <a:solidFill>
            <a:srgbClr val="06111C">
              <a:alpha val="93000"/>
            </a:srgbClr>
          </a:solidFill>
          <a:ln w="12700">
            <a:solidFill>
              <a:srgbClr val="244A6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51560" y="2295144"/>
            <a:ext cx="1097280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80" b="1" dirty="0">
                <a:solidFill>
                  <a:srgbClr val="F6C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Year 2 — First hires</a:t>
            </a:r>
            <a:endParaRPr lang="en-US" sz="1180" dirty="0"/>
          </a:p>
        </p:txBody>
      </p:sp>
      <p:sp>
        <p:nvSpPr>
          <p:cNvPr id="14" name="Text 12"/>
          <p:cNvSpPr/>
          <p:nvPr/>
        </p:nvSpPr>
        <p:spPr>
          <a:xfrm>
            <a:off x="2286000" y="2286000"/>
            <a:ext cx="86868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$1.14M revenue. 3 FTE. 12 Ratatosk, 6 Ragnarok, first Bifrost subscribers, 4 Yggdrasil pilots. Cash-flow positive ($168K net).</a:t>
            </a:r>
            <a:endParaRPr lang="en-US" sz="1220" dirty="0"/>
          </a:p>
        </p:txBody>
      </p:sp>
      <p:sp>
        <p:nvSpPr>
          <p:cNvPr id="15" name="Shape 13"/>
          <p:cNvSpPr/>
          <p:nvPr/>
        </p:nvSpPr>
        <p:spPr>
          <a:xfrm>
            <a:off x="822960" y="2880360"/>
            <a:ext cx="10607040" cy="512064"/>
          </a:xfrm>
          <a:prstGeom prst="roundRect">
            <a:avLst>
              <a:gd name="adj" fmla="val 14286"/>
            </a:avLst>
          </a:prstGeom>
          <a:solidFill>
            <a:srgbClr val="06111C">
              <a:alpha val="93000"/>
            </a:srgbClr>
          </a:solidFill>
          <a:ln w="12700">
            <a:solidFill>
              <a:srgbClr val="244A6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51560" y="3026664"/>
            <a:ext cx="1097280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80" b="1" dirty="0">
                <a:solidFill>
                  <a:srgbClr val="F6C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Year 3 — Platform proves out</a:t>
            </a:r>
            <a:endParaRPr lang="en-US" sz="1180" dirty="0"/>
          </a:p>
        </p:txBody>
      </p:sp>
      <p:sp>
        <p:nvSpPr>
          <p:cNvPr id="17" name="Text 15"/>
          <p:cNvSpPr/>
          <p:nvPr/>
        </p:nvSpPr>
        <p:spPr>
          <a:xfrm>
            <a:off x="2286000" y="3017520"/>
            <a:ext cx="86868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$3.62M revenue ($2.36M ARR, 65% recurring). 7 FTE. 28 Ratatosk, 16 Ragnarok, 13 Yggdrasil tenants, Audit Authority attach begins. $1.43M net.</a:t>
            </a:r>
            <a:endParaRPr lang="en-US" sz="1220" dirty="0"/>
          </a:p>
        </p:txBody>
      </p:sp>
      <p:sp>
        <p:nvSpPr>
          <p:cNvPr id="18" name="Shape 16"/>
          <p:cNvSpPr/>
          <p:nvPr/>
        </p:nvSpPr>
        <p:spPr>
          <a:xfrm>
            <a:off x="822960" y="3611880"/>
            <a:ext cx="10607040" cy="512064"/>
          </a:xfrm>
          <a:prstGeom prst="roundRect">
            <a:avLst>
              <a:gd name="adj" fmla="val 14286"/>
            </a:avLst>
          </a:prstGeom>
          <a:solidFill>
            <a:srgbClr val="06111C">
              <a:alpha val="93000"/>
            </a:srgbClr>
          </a:solidFill>
          <a:ln w="12700">
            <a:solidFill>
              <a:srgbClr val="244A6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51560" y="3758184"/>
            <a:ext cx="1097280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80" b="1" dirty="0">
                <a:solidFill>
                  <a:srgbClr val="F6C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Year 4 — Scale</a:t>
            </a:r>
            <a:endParaRPr lang="en-US" sz="1180" dirty="0"/>
          </a:p>
        </p:txBody>
      </p:sp>
      <p:sp>
        <p:nvSpPr>
          <p:cNvPr id="20" name="Text 18"/>
          <p:cNvSpPr/>
          <p:nvPr/>
        </p:nvSpPr>
        <p:spPr>
          <a:xfrm>
            <a:off x="2286000" y="3749040"/>
            <a:ext cx="86868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$8.67M revenue ($6.18M ARR, 71% recurring). 14 FTE. Yggdrasil pilots ramp to 25, Bifrost to 31 subscribers, Norn at $2.6M. $4.76M net.</a:t>
            </a:r>
            <a:endParaRPr lang="en-US" sz="1220" dirty="0"/>
          </a:p>
        </p:txBody>
      </p:sp>
      <p:sp>
        <p:nvSpPr>
          <p:cNvPr id="21" name="Shape 19"/>
          <p:cNvSpPr/>
          <p:nvPr/>
        </p:nvSpPr>
        <p:spPr>
          <a:xfrm>
            <a:off x="822960" y="4343400"/>
            <a:ext cx="10607040" cy="512064"/>
          </a:xfrm>
          <a:prstGeom prst="roundRect">
            <a:avLst>
              <a:gd name="adj" fmla="val 14286"/>
            </a:avLst>
          </a:prstGeom>
          <a:solidFill>
            <a:srgbClr val="06111C">
              <a:alpha val="93000"/>
            </a:srgbClr>
          </a:solidFill>
          <a:ln w="12700">
            <a:solidFill>
              <a:srgbClr val="244A6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51560" y="4489704"/>
            <a:ext cx="1097280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80" b="1" dirty="0">
                <a:solidFill>
                  <a:srgbClr val="F6C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Year 5 — SaaS-dominant</a:t>
            </a:r>
            <a:endParaRPr lang="en-US" sz="1180" dirty="0"/>
          </a:p>
        </p:txBody>
      </p:sp>
      <p:sp>
        <p:nvSpPr>
          <p:cNvPr id="23" name="Text 21"/>
          <p:cNvSpPr/>
          <p:nvPr/>
        </p:nvSpPr>
        <p:spPr>
          <a:xfrm>
            <a:off x="2286000" y="4480560"/>
            <a:ext cx="86868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$17.6M revenue ($13.4M ARR, 76% recurring). 22 FTE. 53 Yggdrasil tenants, 2,000 Norn paid accounts, $700K revenue/employee. $11.4M net.</a:t>
            </a:r>
            <a:endParaRPr lang="en-US" sz="1220" dirty="0"/>
          </a:p>
        </p:txBody>
      </p:sp>
      <p:sp>
        <p:nvSpPr>
          <p:cNvPr id="24" name="Text 22"/>
          <p:cNvSpPr/>
          <p:nvPr/>
        </p:nvSpPr>
        <p:spPr>
          <a:xfrm>
            <a:off x="914400" y="5715000"/>
            <a:ext cx="10241280" cy="3931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Implied Year-5 valuation: $50–90M on 5–8x ARR multiple. Series A target: Q4 2027 at $500K ARR + 3 Yggdrasil tenants.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594360" y="6473952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• Investor Deck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18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Mimir Labs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Mimir Labs Investor Deck</dc:title>
  <dc:subject>Investor Deck</dc:subject>
  <dc:creator>Mimir Labs</dc:creator>
  <cp:lastModifiedBy>Mimir Labs</cp:lastModifiedBy>
  <cp:revision>1</cp:revision>
  <dcterms:created xsi:type="dcterms:W3CDTF">2026-05-11T12:04:47Z</dcterms:created>
  <dcterms:modified xsi:type="dcterms:W3CDTF">2026-05-11T12:04:47Z</dcterms:modified>
</cp:coreProperties>
</file>