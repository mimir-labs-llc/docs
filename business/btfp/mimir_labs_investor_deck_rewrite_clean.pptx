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  <p:sldId id="270" r:id="rId49"/>
    <p:sldId id="265" r:id="rId50"/>
    <p:sldId id="266" r:id="rId51"/>
    <p:sldId id="271" r:id="rId52"/>
    <p:sldId id="268" r:id="rId53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GOVERNANCE-FIRST ENTERPRISE INFRASTRUCTURE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ERP that doesn't believe in edge cases.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discovers where enterprise meaning breaks. Yggdrasil ERP turns governed meaning into enforceable operational state.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investor materials — Mimir Labs LLC, South Central Pennsylvania.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systems fail at the same thing, the same way, for thirty years.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Gartner: over 70% of recent ERP initiatives miss their original business case goals. The system of record can't be trusted because the data model drifts every time anyone customizes anything.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What's in place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ERP, CRM, BI, spreadsheets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iPaaS and workflow glue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 fields and bespoke logic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 trails as aspiration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2971800" cy="4160520"/>
          </a:xfrm>
          <a:prstGeom prst="roundRect">
            <a:avLst>
              <a:gd name="adj" fmla="val 2462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1664208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breaks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212848"/>
            <a:ext cx="233172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Duplicate business concepts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Conflicting ownership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Ambiguous state transitions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Decision authority outside the system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366760" y="1417320"/>
            <a:ext cx="3017520" cy="4160520"/>
          </a:xfrm>
          <a:prstGeom prst="roundRect">
            <a:avLst>
              <a:gd name="adj" fmla="val 2424"/>
            </a:avLst>
          </a:prstGeom>
          <a:solidFill>
            <a:srgbClr val="071523">
              <a:alpha val="96000"/>
            </a:srgbClr>
          </a:solidFill>
          <a:ln w="12700">
            <a:solidFill>
              <a:srgbClr val="3155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77072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Compounding cost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77072" y="2212848"/>
            <a:ext cx="2331720" cy="1463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customization deepens drift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Audits become archaeology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Migrations stall mid-project
</a:t>
            </a:r>
            <a:pPr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AI built on this surface multiplies wrong answers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73075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571232" y="3246120"/>
            <a:ext cx="676656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063240" y="5824728"/>
            <a:ext cx="62179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missing layer: governed operational authority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conditions every governable ERP must satisfy. We built each one in running code.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meaning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789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323 tables across 10 modules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Mimisbrunnr shared semantic model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custom fields, ever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 label overrides without schema drift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262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state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365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State Constraint Engine on every transition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Append-only audit log with per-field deltas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Replayable RedPanda event mesh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Tenant-scoped predicates and approvals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5048" y="1664208"/>
            <a:ext cx="2697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Signed authority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148840"/>
            <a:ext cx="2377440" cy="1508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 Policies compile to runtime constraints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Draft → sign → active → amend → supersede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No-delete principle preserves the audit trail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Standard Library: SOX, AS9100, CMMC, ITAR, …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three layers are running C++ code as of May 2026. This is built, not planned.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shape: discovery first, authority next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new deck centers on Ratatosk as the entry point and Yggdrasil ERP as the governed reference implementation.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governance tool — 10 pages, VBA decomp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20370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56032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7004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migration tool — 12 engines, 10 pages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07822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3484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0799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Bifrost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4456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Qt 6 integration engine — 9 panels, 13 playbooks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95274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30936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ERP — 323 tables, 10 modules, OPE governance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827264" y="3721608"/>
            <a:ext cx="329184" cy="-1417320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83880" y="182880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198424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Jormungandr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293608" y="226771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Platform-shadow concepts across federated tenants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9701784" y="2304288"/>
            <a:ext cx="329184" cy="1335024"/>
          </a:xfrm>
          <a:prstGeom prst="line">
            <a:avLst/>
          </a:prstGeom>
          <a:noFill/>
          <a:ln w="1905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058400" y="3246120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06111C">
              <a:alpha val="96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131552" y="3401568"/>
            <a:ext cx="1353312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168128" y="3685032"/>
            <a:ext cx="128016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document pilot — OPE plugin roadmap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143000" y="5303520"/>
            <a:ext cx="98755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ships standalone. One shared semantic substrate (Mimisbrunnr) unifies the six.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 makes the thesis visible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Policy Enforcement: signed administrative decisions compile to runtime constraints, roles, approval flows, and workflow templates. Shipped May 2026.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B5A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2412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Board minutes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Email approvals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PDFs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threads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Tribal memory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Policy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Compound predicates (AND/OR/NOT/IF-THEN)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Named Conditions library (versioned)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Policy Phases (pre / gate / post / observer)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Multi-action THEN + JSONB capture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Signed lifecycle: draft → active → superseded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41080" y="1325880"/>
            <a:ext cx="2743200" cy="4343400"/>
          </a:xfrm>
          <a:prstGeom prst="roundRect">
            <a:avLst>
              <a:gd name="adj" fmla="val 2667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627632"/>
            <a:ext cx="2240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effect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87968" y="2148840"/>
            <a:ext cx="201168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Allowed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Blocked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Routed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Escalated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Audited (per-field)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11880" y="3429000"/>
            <a:ext cx="103327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7808" y="3429000"/>
            <a:ext cx="941832" cy="0"/>
          </a:xfrm>
          <a:prstGeom prst="line">
            <a:avLst/>
          </a:prstGeom>
          <a:noFill/>
          <a:ln w="25400">
            <a:solidFill>
              <a:srgbClr val="2DE2D1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82296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Standard Library templates ship today across SOX, AS9100, AS9102, ISO 9001, CMMC, and OFAC. Mimisbrunnr carries the controls vocabulary.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Market: $10B and growing 8–10% CAGR, with the SMB tier underserved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ERP is a large, established market where mid-market manufacturers (10–500 employees) are systematically failed by incumbents. We sell into that gap.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15568" y="5532120"/>
            <a:ext cx="99669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Mid-market manufacturers pay $45K–$250K/yr to incumbents (Epicor, Sage, Infor) for systems they actively distrust. Same budget, better product.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  <p:sp>
        <p:nvSpPr>
          <p:cNvPr id="21" name="Funnel TAM"/>
          <p:cNvSpPr/>
          <p:nvPr/>
        </p:nvSpPr>
        <p:spPr>
          <a:xfrm>
            <a:off x="1065276" y="1417320"/>
            <a:ext cx="10058400" cy="1005840"/>
          </a:xfrm>
          <a:prstGeom prst="roundRect">
            <a:avLst>
              <a:gd name="adj" fmla="val 8000"/>
            </a:avLst>
          </a:prstGeom>
          <a:solidFill>
            <a:srgbClr val="0F2235">
              <a:alpha val="95000"/>
            </a:srgbClr>
          </a:solidFill>
          <a:ln w="19050">
            <a:solidFill>
              <a:srgbClr val="2B5A77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$10B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TAM — Global manufacturing ERP • 8–10% CAGR through 2030 • $281B full ERP by 2034</a:t>
            </a:r>
          </a:p>
        </p:txBody>
      </p:sp>
      <p:sp>
        <p:nvSpPr>
          <p:cNvPr id="22" name="Funnel SAM"/>
          <p:cNvSpPr/>
          <p:nvPr/>
        </p:nvSpPr>
        <p:spPr>
          <a:xfrm>
            <a:off x="2894076" y="2606040"/>
            <a:ext cx="6400800" cy="1005840"/>
          </a:xfrm>
          <a:prstGeom prst="roundRect">
            <a:avLst>
              <a:gd name="adj" fmla="val 8000"/>
            </a:avLst>
          </a:prstGeom>
          <a:solidFill>
            <a:srgbClr val="13344F">
              <a:alpha val="95000"/>
            </a:srgbClr>
          </a:solidFill>
          <a:ln w="19050">
            <a:solidFill>
              <a:srgbClr val="2B5A77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~$3.5B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SAM — Mid-market manufacturing, 10–500 employees, US + EU • AS9100 / CMMC / ISO / ITAR</a:t>
            </a:r>
          </a:p>
        </p:txBody>
      </p:sp>
      <p:sp>
        <p:nvSpPr>
          <p:cNvPr id="23" name="Funnel SOM"/>
          <p:cNvSpPr/>
          <p:nvPr/>
        </p:nvSpPr>
        <p:spPr>
          <a:xfrm>
            <a:off x="4494276" y="3794760"/>
            <a:ext cx="3200400" cy="1005840"/>
          </a:xfrm>
          <a:prstGeom prst="roundRect">
            <a:avLst>
              <a:gd name="adj" fmla="val 8000"/>
            </a:avLst>
          </a:prstGeom>
          <a:solidFill>
            <a:srgbClr val="1A4F6E">
              <a:alpha val="95000"/>
            </a:srgbClr>
          </a:solidFill>
          <a:ln w="19050">
            <a:solidFill>
              <a:srgbClr val="2DE2D1"/>
            </a:solidFill>
            <a:prstDash val="solid"/>
          </a:ln>
        </p:spPr>
        <p:txBody>
          <a:bodyPr wrap="square" lIns="91440" tIns="91440" rIns="91440" bIns="9144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E2D1"/>
                </a:solidFill>
                <a:latin typeface="Aptos" pitchFamily="34" charset="0"/>
              </a:rPr>
              <a:t>~$160M</a:t>
            </a:r>
          </a:p>
          <a:p>
            <a:pPr algn="ctr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</a:rPr>
              <a:t>SOM — PA + adjacent, 3,500 shops • Target 50–150 by Year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model: services-led proof,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creates revenue and proprietary insight before full platform displacement is required.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325880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481328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diagnostic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6052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project fee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0" y="1481328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proof and artifact generation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68680" y="2112264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267712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160520" y="2267712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$30K + ($10K × Footprint) annual; $35K pilot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267712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10 modules + OPE included; full audit log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68680" y="2898648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054096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60520" y="3054096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fee; 1:1 activation credit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054096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legacy → canonical schema migration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68680" y="3685032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840480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pilot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60520" y="3840480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$299/mo Business tier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3840480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 pilot; 5-org cap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68680" y="4471416"/>
            <a:ext cx="10378440" cy="566928"/>
          </a:xfrm>
          <a:prstGeom prst="roundRect">
            <a:avLst>
              <a:gd name="adj" fmla="val 12903"/>
            </a:avLst>
          </a:prstGeom>
          <a:solidFill>
            <a:srgbClr val="071523">
              <a:alpha val="92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626864"/>
            <a:ext cx="2743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160520" y="4626864"/>
            <a:ext cx="2011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revenue lines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00800" y="4626864"/>
            <a:ext cx="42062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channel, OPE-Norn integration, agent SDK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GTM phasing: services-led wedge, platform-led expansion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phase builds the customer relationship and proof set the next phase needs. We do not need to win an ERP buyer in month one.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 — Wedge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Norn self-serve SaaS (free → $1,499/mo). No IT approval, no sales cycle. Active Q4 2026.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8191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 — Services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191109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Ratatosk governance workshops, $5–12.5K. Reveals migration needs, builds account intelligence. Q3 2026.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3 — Platform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Ragnarok migrations + Bifrost integrations. 60% Ratatosk → Ragnarok attach, 25% → Bifrost. Q1 2027.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27432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290779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4 — ERP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75120" y="323697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ERP pilots ($35K) and full subscriptions. Footprint Score pricing. Q3 2027+.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Pre-seed milestones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5156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3–5 Ratatosk workshops, 2 Yggdrasil pilots, Wave-1 OPE rollout, SOC 2 Type I, first engineering hire.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46520" y="406908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2847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4233672"/>
            <a:ext cx="4480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A milestones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675120" y="4562856"/>
            <a:ext cx="4434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$500K ARR, 100 Norn paid accounts, 10 services engagements, 3 Yggdrasil tenants, Template Exchange live.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5788152"/>
            <a:ext cx="10241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motion: founder-led pilots → SI/referrer channel → strategic platform conversations. No partner channel before product is proven.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Differentiation: not another layer above the mess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adjacent tools observe, move, or interpret data. Mimir Labs governs what can become operational truth.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MDM / governance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Manages definitions and stewardship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0" y="1325880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stops before runtime action authority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1719072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777240" y="2130552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iPaaS / data fabric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37560" y="2130552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and reconciles data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40880" y="2130552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 is not agreement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523744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graphs / semantic layers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935224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 relationships and meaning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0" y="2935224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downstream of operational ambiguity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" y="3328416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777240" y="3739896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copilots / agents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337560" y="3739896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and act through tools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739896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is not authority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31520" y="4133088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777240" y="4544568"/>
            <a:ext cx="22860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Traditional ERP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337560" y="4544568"/>
            <a:ext cx="33832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transactions and configurations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40880" y="4544568"/>
            <a:ext cx="4297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rules often live around the substrate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07040" cy="0"/>
          </a:xfrm>
          <a:prstGeom prst="line">
            <a:avLst/>
          </a:prstGeom>
          <a:noFill/>
          <a:ln w="7620">
            <a:solidFill>
              <a:srgbClr val="16344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97280" y="5623560"/>
            <a:ext cx="9966960" cy="502920"/>
          </a:xfrm>
          <a:prstGeom prst="roundRect">
            <a:avLst>
              <a:gd name="adj" fmla="val 14545"/>
            </a:avLst>
          </a:prstGeom>
          <a:solidFill>
            <a:srgbClr val="0F2235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5788152"/>
            <a:ext cx="941832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Moat: canonical manifests + deterministic enforcement + audit replay + operational state-machine authority.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proof points and near-term milestones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has moved from thesis to architecture to sellable wedge.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and shipping (alpha)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Six-tool suite: Yggdrasil ERP (323 tables, 10 modules, Qt + Next.js, 150+ endpoints, OPE governance), Ratatosk, Ragnarok, Bifrost, Jormungandr, Norn. Mimisbrunnr semantic model unifies all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 shipped May 2026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9,500+ line commit: Policy lifecycle, Named Conditions, Phases, multi-action, extension capture, ~40 routes, 8 Standard Library templates.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Multi-tenant infrastructure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VPS: RedPanda event mesh, Cloudflare Tunnel ingress, Caddy proxy, Go mesh-server. CMMC Level 1 attestation complete.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externally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Diginomica's Jon Reed publicly endorsed indie AI-native enterprise builders (Chris named) on Raven Intelligence cast, May 2026. Crunchbase top 100k. CAIP-HE alignment documented.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market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Yggdrasil Validation Cohort waitlist live — $15K reservation deposit, 1:1 credit against activation. Selecting for fit; not auto-onboarding.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milestone: 2–3 paid Ratatosk workshops, first Yggdrasil pilot conversion, SOC 2 Type I readiness, first engineering hire.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Team: solo founder today, AI-augmented build, lean hire plan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is one person and a deliberate development model. The platform exists because the founder lived inside the failures the doctrine refuses.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Gaither, Founder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2057400"/>
            <a:ext cx="388620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 years in manufacturing operations — shop floor, planning, fighting legacy ERPs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United States Marine — disciplined process, mission-first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Mechanical engineer — systems thinking, tolerance reasoning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Solo C++ / Qt / TypeScript builder; AI-augmented velocity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Located in South Central Pennsylvania; available to operators in person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1325880"/>
            <a:ext cx="4754880" cy="4480560"/>
          </a:xfrm>
          <a:prstGeom prst="roundRect">
            <a:avLst>
              <a:gd name="adj" fmla="val 1633"/>
            </a:avLst>
          </a:prstGeom>
          <a:solidFill>
            <a:srgbClr val="071523">
              <a:alpha val="94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591056"/>
            <a:ext cx="4114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Hiring plan (post-funding)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93408" y="2057400"/>
            <a:ext cx="3886200" cy="1874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Q3 2026: Sr. Backend Engineer (Bifrost CDC, Mimisbrunnr schema)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Q4 2026: Sr. Frontend Engineer (Norn web, self-serve onboarding)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Q1–Q2 2027: Sales / BD Lead + Customer Success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Year 3 target: 7 FTE; Year 5 target: 22 FTE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6007608"/>
            <a:ext cx="99212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architecture, the doctrine, the manifests, the code — all real and reviewable. Bus-factor risk is named and addressed by the first hire, not deflected.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5-year projections: $241K → $17.6M, cash-flow positive Year 2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revenue lines (Norn SaaS / Ratatosk / Ragnarok / Bifrost / Yggdrasil) with services-led ramp and SaaS-dominant mix by Year 5.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141732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56362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 — Foundation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286000" y="155448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$241K total revenue. Solo founder. 3 Yggdrasil pilots, 4 Ratatosk workshops, 1 Ragnarok migration, Norn launches. Net (-$23K).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214884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29514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 — First hires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86000" y="228600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$1.14M revenue. 3 FTE. 12 Ratatosk, 6 Ragnarok, first Bifrost subscribers, 4 Yggdrasil pilots. Cash-flow positive ($168K net).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288036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02666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 — Platform proves out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86000" y="301752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$3.62M revenue ($2.36M ARR, 65% recurring). 7 FTE. 28 Ratatosk, 16 Ragnarok, 13 Yggdrasil tenants, Audit Authority attach begins. $1.43M net.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2960" y="361188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75818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4 — Scale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86000" y="374904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$8.67M revenue ($6.18M ARR, 71% recurring). 14 FTE. Yggdrasil pilots ramp to 25, Bifrost to 31 subscribers, Norn at $2.6M. $4.76M net.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4343400"/>
            <a:ext cx="10607040" cy="512064"/>
          </a:xfrm>
          <a:prstGeom prst="roundRect">
            <a:avLst>
              <a:gd name="adj" fmla="val 14286"/>
            </a:avLst>
          </a:prstGeom>
          <a:solidFill>
            <a:srgbClr val="06111C">
              <a:alpha val="93000"/>
            </a:srgbClr>
          </a:solidFill>
          <a:ln w="12700">
            <a:solidFill>
              <a:srgbClr val="244A6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5 — SaaS-dominant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286000" y="4480560"/>
            <a:ext cx="86868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$17.6M revenue ($13.4M ARR, 76% recurring). 22 FTE. 53 Yggdrasil tenants, 2,000 Norn paid accounts, $700K revenue/employee. $11.4M net.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241280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Implied Year-5 valuation: $50–90M on 5–8x ARR multiple. Series A target: Q4 2027 at $500K ARR + 3 Yggdrasil tenants.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0040"/>
            <a:ext cx="7132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ask: fund the first commercial proof of the authority-layer thesis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12648" y="877824"/>
            <a:ext cx="77724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 is intentionally narrow: pilots, product hardening, and partner-ready delivery.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F6C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6C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Raise target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2194560"/>
            <a:ext cx="23774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 / seed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structure: priced equity, SAFE, convertible, or BFTP/angel-led tranche. BFTP-tier proposal: $150–350K (detailed allocation in companion talking-points doc).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goals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974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3–5 paid Ratatosk workshops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2 Yggdrasil Validation Cohort pilots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Wave-1 OPE rollout (Finance / Quality / Purchasing)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SOC 2 Type I + first engineering hire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063240" cy="4343400"/>
          </a:xfrm>
          <a:prstGeom prst="roundRect">
            <a:avLst>
              <a:gd name="adj" fmla="val 2388"/>
            </a:avLst>
          </a:prstGeom>
          <a:solidFill>
            <a:srgbClr val="06111C">
              <a:alpha val="95000"/>
            </a:srgbClr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1700784"/>
            <a:ext cx="2606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DE2D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13064" y="2212848"/>
            <a:ext cx="2331720" cy="1645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First engineering hire (founder to BD + delivery)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delivery + SOC 2 readiness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 manufacturing outbound (MANTEC, trade shows, digital)
</a:t>
            </a:r>
            <a:pPr indent="0" marL="0">
              <a:buNone/>
            </a:pPr>
            <a:r>
              <a:rPr lang="en-US" sz="1800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Founder bridge ($4K/mo) + operating reserve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51560" y="6053328"/>
            <a:ext cx="10149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has already built the reference implementation. This raise funds the first commercial proof — not the architecture, the customers.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31F"/>
          </a:solidFill>
          <a:ln w="12700">
            <a:solidFill>
              <a:srgbClr val="0813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DE2D1"/>
          </a:solidFill>
          <a:ln w="12700">
            <a:solidFill>
              <a:srgbClr val="2DE2D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502920"/>
            <a:ext cx="2788920" cy="320040"/>
          </a:xfrm>
          <a:prstGeom prst="roundRect">
            <a:avLst>
              <a:gd name="adj" fmla="val 17143"/>
            </a:avLst>
          </a:prstGeom>
          <a:solidFill>
            <a:srgbClr val="2DE2D1">
              <a:alpha val="88000"/>
            </a:srgbClr>
          </a:solidFill>
          <a:ln w="12700">
            <a:solidFill>
              <a:srgbClr val="2DE2D1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76072"/>
            <a:ext cx="25694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ERP that doesn't believe in edge cases.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1051560"/>
            <a:ext cx="3840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Mimir Labs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1600200"/>
            <a:ext cx="78638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WE'VE ALREADY BUILT IT.</a:t>
            </a:r>
            <a:endParaRPr lang="en-US" sz="3500" dirty="0"/>
          </a:p>
        </p:txBody>
      </p:sp>
      <p:sp>
        <p:nvSpPr>
          <p:cNvPr id="11" name="Text 9"/>
          <p:cNvSpPr/>
          <p:nvPr/>
        </p:nvSpPr>
        <p:spPr>
          <a:xfrm>
            <a:off x="685800" y="2907792"/>
            <a:ext cx="65836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$1.0M strategic pre-seed. BFTP tranche: $150–350K. Detailed allocation in companion talking-points doc.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" y="4160520"/>
            <a:ext cx="3017520" cy="1234440"/>
          </a:xfrm>
          <a:prstGeom prst="roundRect">
            <a:avLst>
              <a:gd name="adj" fmla="val 5926"/>
            </a:avLst>
          </a:prstGeom>
          <a:solidFill>
            <a:srgbClr val="06111C"/>
          </a:solidFill>
          <a:ln w="12700">
            <a:solidFill>
              <a:srgbClr val="2DE2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416552"/>
            <a:ext cx="2560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8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256032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9BE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Christopher "Doc" Gaither — cgaither@mimirlabs.net — mimirlabs.net — South Central Pennsylvania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7395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Mimir Labs • Investor Deck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r" indent="0" marL="0">
              <a:buNone/>
            </a:pPr>
            <a:r>
              <a:rPr lang="en-US" sz="850" dirty="0">
                <a:solidFill>
                  <a:srgbClr val="6F88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Mimir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Mimir Labs Investor Deck</dc:title>
  <dc:subject>Investor Deck</dc:subject>
  <dc:creator>Mimir Labs</dc:creator>
  <cp:lastModifiedBy>Mimir Labs</cp:lastModifiedBy>
  <cp:revision>1</cp:revision>
  <dcterms:created xsi:type="dcterms:W3CDTF">2026-05-11T12:04:47Z</dcterms:created>
  <dcterms:modified xsi:type="dcterms:W3CDTF">2026-05-11T12:04:47Z</dcterms:modified>
</cp:coreProperties>
</file>