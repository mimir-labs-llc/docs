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502920"/>
            <a:ext cx="2788920" cy="320040"/>
          </a:xfrm>
          <a:prstGeom prst="roundRect">
            <a:avLst>
              <a:gd name="adj" fmla="val 17143"/>
            </a:avLst>
          </a:prstGeom>
          <a:solidFill>
            <a:srgbClr val="2DE2D1">
              <a:alpha val="88000"/>
            </a:srgbClr>
          </a:solidFill>
          <a:ln w="12700">
            <a:solidFill>
              <a:srgbClr val="2DE2D1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76072"/>
            <a:ext cx="25694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GOVERNANCE-FIRST ENTERPRISE INFRASTRUCTURE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Mimir Labs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368" y="1600200"/>
            <a:ext cx="78638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ERP that doesn't believe in edge cases.</a:t>
            </a:r>
            <a:endParaRPr lang="en-US" sz="3500" dirty="0"/>
          </a:p>
        </p:txBody>
      </p:sp>
      <p:sp>
        <p:nvSpPr>
          <p:cNvPr id="11" name="Text 9"/>
          <p:cNvSpPr/>
          <p:nvPr/>
        </p:nvSpPr>
        <p:spPr>
          <a:xfrm>
            <a:off x="685800" y="2907792"/>
            <a:ext cx="65836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discovers where enterprise meaning breaks. Yggdrasil ERP turns governed meaning into enforceable operational state.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" y="4160520"/>
            <a:ext cx="3017520" cy="1234440"/>
          </a:xfrm>
          <a:prstGeom prst="roundRect">
            <a:avLst>
              <a:gd name="adj" fmla="val 5926"/>
            </a:avLst>
          </a:prstGeom>
          <a:solidFill>
            <a:srgbClr val="06111C"/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416552"/>
            <a:ext cx="2560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4800600"/>
            <a:ext cx="256032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investor materials — Mimir Labs LLC, South Central Pennsylvania.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Enterprise systems fail at the same thing, the same way, for thirty years.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Gartner: over 70% of recent ERP initiatives miss their original business case goals. The system of record can't be trusted because the data model drifts every time anyone customizes anything.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What's in place today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ERP, CRM, BI, spreadsheets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iPaaS and workflow glue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Custom fields and bespoke logic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 trails as aspiration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2971800" cy="4160520"/>
          </a:xfrm>
          <a:prstGeom prst="roundRect">
            <a:avLst>
              <a:gd name="adj" fmla="val 2462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6592" y="1664208"/>
            <a:ext cx="2560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breaks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36592" y="2212848"/>
            <a:ext cx="233172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Duplicate business concepts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Conflicting ownership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Ambiguous state transitions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Decision authority outside the system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366760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77072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Compounding cost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77072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Each customization deepens drift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Audits become archaeology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Migrations stall mid-project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 built on this surface multiplies wrong answers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73075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57123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3063240" y="5824728"/>
            <a:ext cx="62179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missing layer: governed operational authority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conditions every governable ERP must satisfy. We built each one in running code.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meaning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323 tables across 10 modules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Mimisbrunnr shared semantic model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custom fields, ever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 label overrides without schema drift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state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State Constraint Engine on every transition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Append-only audit log with per-field deltas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Replayable RedPanda event mesh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Tenant-scoped predicates and approvals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Signed authority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 Policies compile to runtime constraints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Draft → sign → active → amend → supersede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No-delete principle preserves the audit trail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Standard Library: SOX, AS9100, CMMC, ITAR, …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three layers are running C++ code as of May 2026. This is built, not planned.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Ratatosk is the wedge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short-cycle diagnostic that exposes semantic drift and authority conflicts before implementation hardens them.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137160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27632"/>
            <a:ext cx="2286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2688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 schemas and exports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BI models and reports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Spreadsheets and shadow systems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Integration maps and process artifacts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7720" y="1371600"/>
            <a:ext cx="2788920" cy="4343400"/>
          </a:xfrm>
          <a:prstGeom prst="roundRect">
            <a:avLst>
              <a:gd name="adj" fmla="val 2623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18888" y="1627632"/>
            <a:ext cx="2331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workshop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28032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Semantic extraction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Stakeholder validation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Concept ownership mapping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Authority conflict detection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49640" y="1371600"/>
            <a:ext cx="2788920" cy="4343400"/>
          </a:xfrm>
          <a:prstGeom prst="roundRect">
            <a:avLst>
              <a:gd name="adj" fmla="val 2623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50808" y="1627632"/>
            <a:ext cx="2331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59952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Executive governance summary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Conflict &amp; redundancy report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Governance usage map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Canonical governance manifest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20440" y="3456432"/>
            <a:ext cx="1005840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52360" y="3456432"/>
            <a:ext cx="1005840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914400" y="5989320"/>
            <a:ext cx="104241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is built and ready to sell. $5–12.5K workshop fee, credits 1:1 against Yggdrasil activation.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Ratatosk produces the artifacts every implementation wishes it had earlier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canonical map before migration, integration, compliance, or AI deployment.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Governance Summary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5156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Board/CIO view of structural risk and priority actions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644652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Taxonomy Distribution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67512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data structures concentrate by domain and business concept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2296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Usage Map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5156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systems use which concepts and where ownership is unclear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644652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Conflict &amp; Redundancy Report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67512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Duplicate, overlapping, or contradictory enterprise meanings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82296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Governance Manifest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Machine-readable authority map for downstream implementation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644652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Ecosystem Map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667512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system topology and integration risk surface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914400" y="5788152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manifest becomes the bridge into Yggdrasil ERP, OPE, migration, synchronization, and partner delivery.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shape: discovery first, authority next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new deck centers on Ratatosk as the entry point and Yggdrasil ERP as the governed reference implementation.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9552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governance tool — 10 pages, VBA decomp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20370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56032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3347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7004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migration tool — 12 engines, 10 pages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07822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43484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0799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Bifrost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4456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integration engine — 9 panels, 13 playbooks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95274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30936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1908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ERP with OPE governance — 323 tables, 10 modules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782726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8388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Jormungandr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9360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Platform-shadow concepts across federated tenants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970178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05840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13155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16812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document intelligence — OPE plugin on roadmap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1143000" y="5303520"/>
            <a:ext cx="98755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tool ships standalone. One shared semantic substrate (Mimisbrunnr) unifies the six.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Yggdrasil ERP: the reference implementation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governance-first ERP designed around canonical meaning, state validity, and auditability. A reference implementation of the CAIP-HE framework.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design principles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057400"/>
            <a:ext cx="388620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Qt 6 desktop client + Next.js web app, both shipping in alpha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Canonical schema (323 tables, 10 modules) as living substrate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Strict validation at ingress; no custom fields permitted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OPE-signed Policies enforced on every state transition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Append-only audit log; RedPanda B2B event mesh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 now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93408" y="2057400"/>
            <a:ext cx="3886200" cy="1874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Manufacturers can't trust their own data after years of customization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AS9100, CMMC, SOX, ITAR demand provenance, not screenshots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 built on drifted data multiplies bad decisions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Substrate-level governance is the only durable fix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6007608"/>
            <a:ext cx="9921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 is the working reference implementation of the CAIP-HE framework — built, running, and shipping in alpha today.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 makes the thesis visible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Policy Enforcement: signed administrative decisions compile to runtime constraints, roles, approval flows, and workflow templates. Shipped May 2026.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Board minutes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Email approvals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PDFs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Teams threads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Tribal memory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Policy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Compound predicates (AND/OR/NOT/IF-THEN)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Named Conditions library (versioned)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Phases (pre / gate / post / observer)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Multi-action THEN + JSONB capture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Signed lifecycle: draft → active → superseded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6410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effect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8879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Allowed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Blocked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Routed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Escalated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Audited (per-field)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11880" y="3429000"/>
            <a:ext cx="103327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07808" y="3429000"/>
            <a:ext cx="94183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82296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Standard Library templates ship today across SOX, AS9100, AS9102, ISO 9001, CMMC, and OFAC. Mimisbrunnr carries the controls vocabulary.</a:t>
            </a:r>
            <a:endParaRPr lang="en-US" sz="152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Norn: contract document intelligence today, OPE-integrated tomorrow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Standalone pilot offering now (Business tier). Roadmap: contract obligations become OPE Policy candidates the Yggdrasil runtime enforces directly.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Contract authoring + signing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Pilot tier: $299/mo Business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5-org pilot cap (none signed)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Standalone web app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extraction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7316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Obligations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Evidence requirements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Milestones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Renewals and exceptions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7532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→ OPE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2220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Obligations → Policy candidates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Evidence → Constraint inputs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Milestones → Workflow templates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Renewals → Effective-date triggers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913632" y="3429000"/>
            <a:ext cx="512064" cy="0"/>
          </a:xfrm>
          <a:prstGeom prst="line">
            <a:avLst/>
          </a:prstGeom>
          <a:noFill/>
          <a:ln w="2286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62672" y="3429000"/>
            <a:ext cx="512064" cy="0"/>
          </a:xfrm>
          <a:prstGeom prst="line">
            <a:avLst/>
          </a:prstGeom>
          <a:noFill/>
          <a:ln w="2286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005840" y="5852160"/>
            <a:ext cx="1014984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Google and Microsoft can help create and sign documents. Norn tells the operating system what the signed document now requires.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Initial market: regulated operations with visible authority pain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sells into the moment when migration, compliance, integration, or AI makes ambiguity expensive.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50876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171907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Defense-adjacent manufacturing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8992" y="211226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CMMC, CUI, audit traceability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8992" y="345643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Aerospace &amp; precision machining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78992" y="384962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AS9100, first article, quality gates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6400800" y="150876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6832" y="171907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 manufacturing corridor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56832" y="211226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MANTEC member network, MEP, 50–500 employee shops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6400800" y="324612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56832" y="345643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partners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56832" y="384962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SIs, ERP consultants, fractional CIOs</a:t>
            </a:r>
            <a:endParaRPr lang="en-US" sz="1230" dirty="0"/>
          </a:p>
        </p:txBody>
      </p:sp>
      <p:sp>
        <p:nvSpPr>
          <p:cNvPr id="21" name="Shape 19"/>
          <p:cNvSpPr/>
          <p:nvPr/>
        </p:nvSpPr>
        <p:spPr>
          <a:xfrm>
            <a:off x="1097280" y="5074920"/>
            <a:ext cx="9966960" cy="685800"/>
          </a:xfrm>
          <a:prstGeom prst="roundRect">
            <a:avLst>
              <a:gd name="adj" fmla="val 10667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5276088"/>
            <a:ext cx="92354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Near-term wedge: paid Ratatosk diagnostics convert into Yggdrasil Validation Cohort pilots. PA-grown product for PA-grown manufacturers.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model: services-led proof,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creates revenue and proprietary insight before full platform displacement is required.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325880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481328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diagnostic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60520" y="1481328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project fee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6400800" y="1481328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proof and artifact generation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868680" y="2112264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2267712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60520" y="2267712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$30K + ($10K × Footprint) annual; $35K pilot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6400800" y="2267712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10 modules + OPE included; full audit log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868680" y="2898648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054096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160520" y="3054096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fee; 1:1 activation credit</a:t>
            </a:r>
            <a:endParaRPr lang="en-US" sz="1220" dirty="0"/>
          </a:p>
        </p:txBody>
      </p:sp>
      <p:sp>
        <p:nvSpPr>
          <p:cNvPr id="20" name="Text 18"/>
          <p:cNvSpPr/>
          <p:nvPr/>
        </p:nvSpPr>
        <p:spPr>
          <a:xfrm>
            <a:off x="6400800" y="3054096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legacy → canonical schema migration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868680" y="3685032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3840480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pilot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160520" y="3840480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$299/mo Business tier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6400800" y="3840480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pilot; 5-org cap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>
            <a:off x="868680" y="4471416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4626864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160520" y="4626864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revenue lines</a:t>
            </a:r>
            <a:endParaRPr lang="en-US" sz="1220" dirty="0"/>
          </a:p>
        </p:txBody>
      </p:sp>
      <p:sp>
        <p:nvSpPr>
          <p:cNvPr id="28" name="Text 26"/>
          <p:cNvSpPr/>
          <p:nvPr/>
        </p:nvSpPr>
        <p:spPr>
          <a:xfrm>
            <a:off x="6400800" y="4626864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channel, OPE-Norn integration, agent SDK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914400" y="5897880"/>
            <a:ext cx="102412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Differentiation: not another layer above the mess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adjacent tools observe, move, or interpret data. Mimir Labs governs what can become operational truth.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MDM / governance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Manages definitions and stewardship</a:t>
            </a:r>
            <a:endParaRPr lang="en-US" sz="1160" dirty="0"/>
          </a:p>
        </p:txBody>
      </p:sp>
      <p:sp>
        <p:nvSpPr>
          <p:cNvPr id="11" name="Text 9"/>
          <p:cNvSpPr/>
          <p:nvPr/>
        </p:nvSpPr>
        <p:spPr>
          <a:xfrm>
            <a:off x="7040880" y="1325880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stops before runtime action authority</a:t>
            </a:r>
            <a:endParaRPr lang="en-US" sz="1160" dirty="0"/>
          </a:p>
        </p:txBody>
      </p:sp>
      <p:sp>
        <p:nvSpPr>
          <p:cNvPr id="12" name="Shape 10"/>
          <p:cNvSpPr/>
          <p:nvPr/>
        </p:nvSpPr>
        <p:spPr>
          <a:xfrm>
            <a:off x="731520" y="1719072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777240" y="2130552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iPaaS / data fabric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3337560" y="2130552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Moves and reconciles data</a:t>
            </a:r>
            <a:endParaRPr lang="en-US" sz="1160" dirty="0"/>
          </a:p>
        </p:txBody>
      </p:sp>
      <p:sp>
        <p:nvSpPr>
          <p:cNvPr id="15" name="Text 13"/>
          <p:cNvSpPr/>
          <p:nvPr/>
        </p:nvSpPr>
        <p:spPr>
          <a:xfrm>
            <a:off x="7040880" y="2130552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Translation is not agreement</a:t>
            </a:r>
            <a:endParaRPr lang="en-US" sz="1160" dirty="0"/>
          </a:p>
        </p:txBody>
      </p:sp>
      <p:sp>
        <p:nvSpPr>
          <p:cNvPr id="16" name="Shape 14"/>
          <p:cNvSpPr/>
          <p:nvPr/>
        </p:nvSpPr>
        <p:spPr>
          <a:xfrm>
            <a:off x="731520" y="2523744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graphs / semantic layers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3337560" y="2935224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 relationships and meaning</a:t>
            </a:r>
            <a:endParaRPr lang="en-US" sz="1160" dirty="0"/>
          </a:p>
        </p:txBody>
      </p:sp>
      <p:sp>
        <p:nvSpPr>
          <p:cNvPr id="19" name="Text 17"/>
          <p:cNvSpPr/>
          <p:nvPr/>
        </p:nvSpPr>
        <p:spPr>
          <a:xfrm>
            <a:off x="7040880" y="2935224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downstream of operational ambiguity</a:t>
            </a:r>
            <a:endParaRPr lang="en-US" sz="1160" dirty="0"/>
          </a:p>
        </p:txBody>
      </p:sp>
      <p:sp>
        <p:nvSpPr>
          <p:cNvPr id="20" name="Shape 18"/>
          <p:cNvSpPr/>
          <p:nvPr/>
        </p:nvSpPr>
        <p:spPr>
          <a:xfrm>
            <a:off x="731520" y="3328416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77240" y="3739896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copilots / agents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3337560" y="3739896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and act through tools</a:t>
            </a:r>
            <a:endParaRPr lang="en-US" sz="1160" dirty="0"/>
          </a:p>
        </p:txBody>
      </p:sp>
      <p:sp>
        <p:nvSpPr>
          <p:cNvPr id="23" name="Text 21"/>
          <p:cNvSpPr/>
          <p:nvPr/>
        </p:nvSpPr>
        <p:spPr>
          <a:xfrm>
            <a:off x="7040880" y="3739896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</a:t>
            </a:r>
            <a:endParaRPr lang="en-US" sz="1160" dirty="0"/>
          </a:p>
        </p:txBody>
      </p:sp>
      <p:sp>
        <p:nvSpPr>
          <p:cNvPr id="24" name="Shape 22"/>
          <p:cNvSpPr/>
          <p:nvPr/>
        </p:nvSpPr>
        <p:spPr>
          <a:xfrm>
            <a:off x="731520" y="4133088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777240" y="4544568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Traditional ERP</a:t>
            </a:r>
            <a:endParaRPr lang="en-US" sz="1280" dirty="0"/>
          </a:p>
        </p:txBody>
      </p:sp>
      <p:sp>
        <p:nvSpPr>
          <p:cNvPr id="26" name="Text 24"/>
          <p:cNvSpPr/>
          <p:nvPr/>
        </p:nvSpPr>
        <p:spPr>
          <a:xfrm>
            <a:off x="3337560" y="4544568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transactions and configurations</a:t>
            </a:r>
            <a:endParaRPr lang="en-US" sz="1160" dirty="0"/>
          </a:p>
        </p:txBody>
      </p:sp>
      <p:sp>
        <p:nvSpPr>
          <p:cNvPr id="27" name="Text 25"/>
          <p:cNvSpPr/>
          <p:nvPr/>
        </p:nvSpPr>
        <p:spPr>
          <a:xfrm>
            <a:off x="7040880" y="4544568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rules often live around the substrate</a:t>
            </a:r>
            <a:endParaRPr lang="en-US" sz="116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097280" y="5623560"/>
            <a:ext cx="9966960" cy="502920"/>
          </a:xfrm>
          <a:prstGeom prst="roundRect">
            <a:avLst>
              <a:gd name="adj" fmla="val 14545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5788152"/>
            <a:ext cx="941832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Moat: canonical manifests + deterministic enforcement + audit replay + operational state-machine authority.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proof points and near-term milestones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has moved from thesis to architecture to sellable wedge.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and shipping (alpha)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Six-tool suite: Yggdrasil ERP (323 tables, 10 modules, Qt + Next.js, 150+ endpoints, OPE governance), Ratatosk, Ragnarok, Bifrost, Jormungandr, Norn. Mimisbrunnr semantic model unifies all six.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shipped May 2026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9,500+ line commit: Policy lifecycle, Named Conditions, Phases, multi-action, extension capture, ~40 routes, 8 Standard Library templates.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Multi-tenant infrastructure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VPS: RedPanda event mesh, Cloudflare Tunnel ingress, Caddy proxy, Go mesh-server. CMMC Level 1 attestation complete.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externally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Diginomica's Jon Reed publicly endorsed indie AI-native enterprise builders (Chris named) on Raven Intelligence cast, May 2026. Crunchbase top 100k. CAIP-HE alignment documented.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market</a:t>
            </a:r>
            <a:endParaRPr lang="en-US" sz="118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Validation Cohort waitlist live — $15K reservation deposit, 1:1 credit against activation. Selecting for fit; not auto-onboarding.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milestone: 2–3 paid Ratatosk workshops, first Yggdrasil pilot conversion, SOC 2 Type I readiness, first engineering hire.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ask: fund the first commercial proof of the authority-layer thesis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 is intentionally narrow: pilots, product hardening, and partner-ready delivery.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Raise target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194560"/>
            <a:ext cx="23774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$1.0M strategic pre-seed / seed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097280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 structure: priced equity, SAFE, convertible, or BFTP/angel-led tranche. BFTP-tier proposal: $150–350K (detailed allocation in companion talking-points doc).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457200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12-month goals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0974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3–5 paid Ratatosk workshops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2 Yggdrasil Validation Cohort pilots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Wave-1 OPE rollout (Finance / Quality / Purchasing)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SOC 2 Type I + first engineering hire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7532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1306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engineering hire (founder to BD + delivery)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Pilot delivery + SOC 2 readiness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 manufacturing outbound (MANTEC, trade shows, digital)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Founder bridge ($4K/mo) + operating reserve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6053328"/>
            <a:ext cx="101498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3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has already built the reference implementation. This raise funds the first commercial proof — not the architecture, the customers.</a:t>
            </a:r>
            <a:endParaRPr lang="en-US" sz="1730" dirty="0"/>
          </a:p>
        </p:txBody>
      </p:sp>
      <p:sp>
        <p:nvSpPr>
          <p:cNvPr id="20" name="Text 1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Mimir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Mimir Labs Investor Deck</dc:title>
  <dc:subject>Investor Deck</dc:subject>
  <dc:creator>Mimir Labs</dc:creator>
  <cp:lastModifiedBy>Mimir Labs</cp:lastModifiedBy>
  <cp:revision>1</cp:revision>
  <dcterms:created xsi:type="dcterms:W3CDTF">2026-05-11T12:04:47Z</dcterms:created>
  <dcterms:modified xsi:type="dcterms:W3CDTF">2026-05-11T12:04:47Z</dcterms:modified>
</cp:coreProperties>
</file>