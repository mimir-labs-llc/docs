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0.xml" ContentType="application/vnd.openxmlformats-officedocument.presentationml.slide+xml"/>
  <Override PartName="/ppt/slides/slide13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3.xml" ContentType="application/vnd.openxmlformats-officedocument.presentationml.notesSlide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40"/>
    <p:sldId id="257" r:id="rId41"/>
    <p:sldId id="258" r:id="rId42"/>
    <p:sldId id="259" r:id="rId43"/>
    <p:sldId id="260" r:id="rId44"/>
    <p:sldId id="261" r:id="rId45"/>
    <p:sldId id="262" r:id="rId46"/>
    <p:sldId id="263" r:id="rId47"/>
    <p:sldId id="264" r:id="rId48"/>
    <p:sldId id="270" r:id="rId49"/>
    <p:sldId id="265" r:id="rId50"/>
    <p:sldId id="266" r:id="rId51"/>
    <p:sldId id="271" r:id="rId52"/>
    <p:sldId id="268" r:id="rId53"/>
  </p:sldIdLst>
  <p:notesMasterIdLst>
    <p:notesMasterId r:id="rId16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Relationship Id="rId40" Type="http://schemas.openxmlformats.org/officeDocument/2006/relationships/slide" Target="slides/slide1.xml"/><Relationship Id="rId41" Type="http://schemas.openxmlformats.org/officeDocument/2006/relationships/slide" Target="slides/slide2.xml"/><Relationship Id="rId42" Type="http://schemas.openxmlformats.org/officeDocument/2006/relationships/slide" Target="slides/slide3.xml"/><Relationship Id="rId43" Type="http://schemas.openxmlformats.org/officeDocument/2006/relationships/slide" Target="slides/slide4.xml"/><Relationship Id="rId44" Type="http://schemas.openxmlformats.org/officeDocument/2006/relationships/slide" Target="slides/slide5.xml"/><Relationship Id="rId45" Type="http://schemas.openxmlformats.org/officeDocument/2006/relationships/slide" Target="slides/slide6.xml"/><Relationship Id="rId46" Type="http://schemas.openxmlformats.org/officeDocument/2006/relationships/slide" Target="slides/slide7.xml"/><Relationship Id="rId47" Type="http://schemas.openxmlformats.org/officeDocument/2006/relationships/slide" Target="slides/slide8.xml"/><Relationship Id="rId48" Type="http://schemas.openxmlformats.org/officeDocument/2006/relationships/slide" Target="slides/slide9.xml"/><Relationship Id="rId49" Type="http://schemas.openxmlformats.org/officeDocument/2006/relationships/slide" Target="slides/slide10.xml"/><Relationship Id="rId50" Type="http://schemas.openxmlformats.org/officeDocument/2006/relationships/slide" Target="slides/slide11.xml"/><Relationship Id="rId51" Type="http://schemas.openxmlformats.org/officeDocument/2006/relationships/slide" Target="slides/slide12.xml"/><Relationship Id="rId52" Type="http://schemas.openxmlformats.org/officeDocument/2006/relationships/slide" Target="slides/slide13.xml"/><Relationship Id="rId53" Type="http://schemas.openxmlformats.org/officeDocument/2006/relationships/slide" Target="slides/slide14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813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131F"/>
          </a:solidFill>
          <a:ln w="12700">
            <a:solidFill>
              <a:srgbClr val="08131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64008" cy="6858000"/>
          </a:xfrm>
          <a:prstGeom prst="rect">
            <a:avLst/>
          </a:prstGeom>
          <a:solidFill>
            <a:srgbClr val="2DE2D1"/>
          </a:solidFill>
          <a:ln w="12700">
            <a:solidFill>
              <a:srgbClr val="2DE2D1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58368" y="502920"/>
            <a:ext cx="2788920" cy="320040"/>
          </a:xfrm>
          <a:prstGeom prst="roundRect">
            <a:avLst>
              <a:gd name="adj" fmla="val 17143"/>
            </a:avLst>
          </a:prstGeom>
          <a:solidFill>
            <a:srgbClr val="2DE2D1">
              <a:alpha val="88000"/>
            </a:srgbClr>
          </a:solidFill>
          <a:ln w="12700">
            <a:solidFill>
              <a:srgbClr val="2DE2D1">
                <a:alpha val="9000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68096" y="576072"/>
            <a:ext cx="2569464" cy="17373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ctr" indent="0" marL="0">
              <a:buNone/>
            </a:pPr>
            <a:r>
              <a:rPr lang="en-US" sz="870" b="1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GOVERNANCE-FIRST ENTERPRISE INFRASTRUCTURE</a:t>
            </a:r>
            <a:endParaRPr lang="en-US" sz="870" dirty="0"/>
          </a:p>
        </p:txBody>
      </p:sp>
      <p:sp>
        <p:nvSpPr>
          <p:cNvPr id="9" name="Text 7"/>
          <p:cNvSpPr/>
          <p:nvPr/>
        </p:nvSpPr>
        <p:spPr>
          <a:xfrm>
            <a:off x="658368" y="1051560"/>
            <a:ext cx="3840480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4F8F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Mimir Labs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658368" y="1600200"/>
            <a:ext cx="7863840" cy="11430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3500" b="1" dirty="0">
                <a:solidFill>
                  <a:srgbClr val="F4F8F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The ERP that doesn't believe in edge cases.</a:t>
            </a:r>
            <a:endParaRPr lang="en-US" sz="3500" dirty="0"/>
          </a:p>
        </p:txBody>
      </p:sp>
      <p:sp>
        <p:nvSpPr>
          <p:cNvPr id="11" name="Text 9"/>
          <p:cNvSpPr/>
          <p:nvPr/>
        </p:nvSpPr>
        <p:spPr>
          <a:xfrm>
            <a:off x="685800" y="2907792"/>
            <a:ext cx="6583680" cy="5943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600" dirty="0">
                <a:solidFill>
                  <a:srgbClr val="A9B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Ratatosk discovers where enterprise meaning breaks. Yggdrasil ERP turns governed meaning into enforceable operational state.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658368" y="4160520"/>
            <a:ext cx="3017520" cy="1234440"/>
          </a:xfrm>
          <a:prstGeom prst="roundRect">
            <a:avLst>
              <a:gd name="adj" fmla="val 5926"/>
            </a:avLst>
          </a:prstGeom>
          <a:solidFill>
            <a:srgbClr val="06111C"/>
          </a:solidFill>
          <a:ln w="12700">
            <a:solidFill>
              <a:srgbClr val="2DE2D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68680" y="4416552"/>
            <a:ext cx="2560320" cy="320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Investor Deck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868680" y="4800600"/>
            <a:ext cx="2560320" cy="34747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A9B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Pre-seed investor materials — Mimir Labs LLC, South Central Pennsylvania.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594360" y="6473952"/>
            <a:ext cx="2926080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850" dirty="0">
                <a:solidFill>
                  <a:srgbClr val="6F889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Mimir Labs • Investor Deck</a:t>
            </a:r>
            <a:endParaRPr lang="en-US" sz="850" dirty="0"/>
          </a:p>
        </p:txBody>
      </p:sp>
      <p:sp>
        <p:nvSpPr>
          <p:cNvPr id="16" name="Text 14"/>
          <p:cNvSpPr/>
          <p:nvPr/>
        </p:nvSpPr>
        <p:spPr>
          <a:xfrm>
            <a:off x="11292840" y="6473952"/>
            <a:ext cx="411480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r" indent="0" marL="0">
              <a:buNone/>
            </a:pPr>
            <a:r>
              <a:rPr lang="en-US" sz="850" dirty="0">
                <a:solidFill>
                  <a:srgbClr val="6F889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01</a:t>
            </a:r>
            <a:endParaRPr lang="en-US" sz="8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813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131F"/>
          </a:solidFill>
          <a:ln w="12700">
            <a:solidFill>
              <a:srgbClr val="08131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64008" cy="6858000"/>
          </a:xfrm>
          <a:prstGeom prst="rect">
            <a:avLst/>
          </a:prstGeom>
          <a:solidFill>
            <a:srgbClr val="2DE2D1"/>
          </a:solidFill>
          <a:ln w="12700">
            <a:solidFill>
              <a:srgbClr val="2DE2D1">
                <a:alpha val="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94360" y="320040"/>
            <a:ext cx="7132320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F4F8F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Enterprise systems fail at the same thing, the same way, for thirty years.</a:t>
            </a:r>
            <a:endParaRPr lang="en-US" sz="2700" dirty="0"/>
          </a:p>
        </p:txBody>
      </p:sp>
      <p:sp>
        <p:nvSpPr>
          <p:cNvPr id="8" name="Text 6"/>
          <p:cNvSpPr/>
          <p:nvPr/>
        </p:nvSpPr>
        <p:spPr>
          <a:xfrm>
            <a:off x="612648" y="877824"/>
            <a:ext cx="7772400" cy="320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250" dirty="0">
                <a:solidFill>
                  <a:srgbClr val="A9B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Gartner: over 70% of recent ERP initiatives miss their original business case goals. The system of record can't be trusted because the data model drifts every time anyone customizes anything.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58368" y="1417320"/>
            <a:ext cx="3017520" cy="4160520"/>
          </a:xfrm>
          <a:prstGeom prst="roundRect">
            <a:avLst>
              <a:gd name="adj" fmla="val 2424"/>
            </a:avLst>
          </a:prstGeom>
          <a:solidFill>
            <a:srgbClr val="071523">
              <a:alpha val="96000"/>
            </a:srgbClr>
          </a:solidFill>
          <a:ln w="12700">
            <a:solidFill>
              <a:srgbClr val="31557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68680" y="1664208"/>
            <a:ext cx="2468880" cy="274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What's in place today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868680" y="2212848"/>
            <a:ext cx="2331720" cy="14630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A9B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ERP, CRM, BI, spreadsheets
</a:t>
            </a:r>
            <a:pPr indent="0" marL="0">
              <a:buNone/>
            </a:pPr>
            <a:r>
              <a:rPr lang="en-US" sz="1350" dirty="0">
                <a:solidFill>
                  <a:srgbClr val="A9B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iPaaS and workflow glue
</a:t>
            </a:r>
            <a:pPr indent="0" marL="0">
              <a:buNone/>
            </a:pPr>
            <a:r>
              <a:rPr lang="en-US" sz="1350" dirty="0">
                <a:solidFill>
                  <a:srgbClr val="A9B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Custom fields and bespoke logic
</a:t>
            </a:r>
            <a:pPr indent="0" marL="0">
              <a:buNone/>
            </a:pPr>
            <a:r>
              <a:rPr lang="en-US" sz="1350" dirty="0">
                <a:solidFill>
                  <a:srgbClr val="A9B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Audit trails as aspiration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4526280" y="1417320"/>
            <a:ext cx="2971800" cy="4160520"/>
          </a:xfrm>
          <a:prstGeom prst="roundRect">
            <a:avLst>
              <a:gd name="adj" fmla="val 2462"/>
            </a:avLst>
          </a:prstGeom>
          <a:solidFill>
            <a:srgbClr val="071523">
              <a:alpha val="96000"/>
            </a:srgbClr>
          </a:solidFill>
          <a:ln w="12700">
            <a:solidFill>
              <a:srgbClr val="315575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736592" y="1664208"/>
            <a:ext cx="2560320" cy="274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Why it breaks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4736592" y="2212848"/>
            <a:ext cx="2331720" cy="150876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A9B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Duplicate business concepts
</a:t>
            </a:r>
            <a:pPr indent="0" marL="0">
              <a:buNone/>
            </a:pPr>
            <a:r>
              <a:rPr lang="en-US" sz="1350" dirty="0">
                <a:solidFill>
                  <a:srgbClr val="A9B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Conflicting ownership
</a:t>
            </a:r>
            <a:pPr indent="0" marL="0">
              <a:buNone/>
            </a:pPr>
            <a:r>
              <a:rPr lang="en-US" sz="1350" dirty="0">
                <a:solidFill>
                  <a:srgbClr val="A9B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Ambiguous state transitions
</a:t>
            </a:r>
            <a:pPr indent="0" marL="0">
              <a:buNone/>
            </a:pPr>
            <a:r>
              <a:rPr lang="en-US" sz="1350" dirty="0">
                <a:solidFill>
                  <a:srgbClr val="A9B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Decision authority outside the system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8366760" y="1417320"/>
            <a:ext cx="3017520" cy="4160520"/>
          </a:xfrm>
          <a:prstGeom prst="roundRect">
            <a:avLst>
              <a:gd name="adj" fmla="val 2424"/>
            </a:avLst>
          </a:prstGeom>
          <a:solidFill>
            <a:srgbClr val="071523">
              <a:alpha val="96000"/>
            </a:srgbClr>
          </a:solidFill>
          <a:ln w="12700">
            <a:solidFill>
              <a:srgbClr val="31557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577072" y="1664208"/>
            <a:ext cx="2468880" cy="274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Compounding cost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8577072" y="2212848"/>
            <a:ext cx="2331720" cy="14630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A9B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Each customization deepens drift
</a:t>
            </a:r>
            <a:pPr indent="0" marL="0">
              <a:buNone/>
            </a:pPr>
            <a:r>
              <a:rPr lang="en-US" sz="1350" dirty="0">
                <a:solidFill>
                  <a:srgbClr val="A9B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Audits become archaeology
</a:t>
            </a:r>
            <a:pPr indent="0" marL="0">
              <a:buNone/>
            </a:pPr>
            <a:r>
              <a:rPr lang="en-US" sz="1350" dirty="0">
                <a:solidFill>
                  <a:srgbClr val="A9B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Migrations stall mid-project
</a:t>
            </a:r>
            <a:pPr indent="0" marL="0">
              <a:buNone/>
            </a:pPr>
            <a:r>
              <a:rPr lang="en-US" sz="1350" dirty="0">
                <a:solidFill>
                  <a:srgbClr val="A9B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AI built on this surface multiplies wrong answers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3730752" y="3246120"/>
            <a:ext cx="676656" cy="0"/>
          </a:xfrm>
          <a:prstGeom prst="line">
            <a:avLst/>
          </a:prstGeom>
          <a:noFill/>
          <a:ln w="25400">
            <a:solidFill>
              <a:srgbClr val="2DE2D1"/>
            </a:solidFill>
            <a:prstDash val="solid"/>
            <a:headEnd type="none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7571232" y="3246120"/>
            <a:ext cx="676656" cy="0"/>
          </a:xfrm>
          <a:prstGeom prst="line">
            <a:avLst/>
          </a:prstGeom>
          <a:noFill/>
          <a:ln w="25400">
            <a:solidFill>
              <a:srgbClr val="2DE2D1"/>
            </a:solidFill>
            <a:prstDash val="solid"/>
            <a:headEnd type="none"/>
            <a:tailEnd type="triangle"/>
          </a:ln>
        </p:spPr>
      </p:sp>
      <p:sp>
        <p:nvSpPr>
          <p:cNvPr id="20" name="Text 18"/>
          <p:cNvSpPr/>
          <p:nvPr/>
        </p:nvSpPr>
        <p:spPr>
          <a:xfrm>
            <a:off x="3063240" y="5824728"/>
            <a:ext cx="6217920" cy="38404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2DE2D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Context is not authority.</a:t>
            </a:r>
            <a:endParaRPr lang="en-US" sz="2400" dirty="0"/>
          </a:p>
        </p:txBody>
      </p:sp>
      <p:sp>
        <p:nvSpPr>
          <p:cNvPr id="21" name="Text 19"/>
          <p:cNvSpPr/>
          <p:nvPr/>
        </p:nvSpPr>
        <p:spPr>
          <a:xfrm>
            <a:off x="594360" y="6473952"/>
            <a:ext cx="2926080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850" dirty="0">
                <a:solidFill>
                  <a:srgbClr val="6F889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Mimir Labs • Investor Deck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11292840" y="6473952"/>
            <a:ext cx="411480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r" indent="0" marL="0">
              <a:buNone/>
            </a:pPr>
            <a:r>
              <a:rPr lang="en-US" sz="850" dirty="0">
                <a:solidFill>
                  <a:srgbClr val="6F889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02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813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131F"/>
          </a:solidFill>
          <a:ln w="12700">
            <a:solidFill>
              <a:srgbClr val="08131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64008" cy="6858000"/>
          </a:xfrm>
          <a:prstGeom prst="rect">
            <a:avLst/>
          </a:prstGeom>
          <a:solidFill>
            <a:srgbClr val="2DE2D1"/>
          </a:solidFill>
          <a:ln w="12700">
            <a:solidFill>
              <a:srgbClr val="2DE2D1">
                <a:alpha val="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94360" y="320040"/>
            <a:ext cx="7132320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F4F8F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The missing layer: governed operational authority</a:t>
            </a:r>
            <a:endParaRPr lang="en-US" sz="2700" dirty="0"/>
          </a:p>
        </p:txBody>
      </p:sp>
      <p:sp>
        <p:nvSpPr>
          <p:cNvPr id="8" name="Text 6"/>
          <p:cNvSpPr/>
          <p:nvPr/>
        </p:nvSpPr>
        <p:spPr>
          <a:xfrm>
            <a:off x="612648" y="877824"/>
            <a:ext cx="7772400" cy="320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250" dirty="0">
                <a:solidFill>
                  <a:srgbClr val="A9B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Three conditions every governable ERP must satisfy. We built each one in running code.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868680" y="1417320"/>
            <a:ext cx="3108960" cy="3520440"/>
          </a:xfrm>
          <a:prstGeom prst="roundRect">
            <a:avLst>
              <a:gd name="adj" fmla="val 2353"/>
            </a:avLst>
          </a:prstGeom>
          <a:solidFill>
            <a:srgbClr val="0F2235">
              <a:alpha val="95000"/>
            </a:srgbClr>
          </a:solidFill>
          <a:ln w="12700">
            <a:solidFill>
              <a:srgbClr val="2B5A7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69848" y="1664208"/>
            <a:ext cx="2697480" cy="320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DE2D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Canonical meaning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078992" y="2148840"/>
            <a:ext cx="2377440" cy="150876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323 tables across 10 modules
</a:t>
            </a:r>
            <a:pPr indent="0" marL="0">
              <a:buNone/>
            </a:pPr>
            <a:r>
              <a:rPr lang="en-US" sz="130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Mimisbrunnr shared semantic model
</a:t>
            </a:r>
            <a:pPr indent="0" marL="0">
              <a:buNone/>
            </a:pPr>
            <a:r>
              <a:rPr lang="en-US" sz="130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No custom fields, ever
</a:t>
            </a:r>
            <a:pPr indent="0" marL="0">
              <a:buNone/>
            </a:pPr>
            <a:r>
              <a:rPr lang="en-US" sz="130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Tenant label overrides without schema drift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4526280" y="1417320"/>
            <a:ext cx="3108960" cy="3520440"/>
          </a:xfrm>
          <a:prstGeom prst="roundRect">
            <a:avLst>
              <a:gd name="adj" fmla="val 2353"/>
            </a:avLst>
          </a:prstGeom>
          <a:solidFill>
            <a:srgbClr val="0F2235">
              <a:alpha val="95000"/>
            </a:srgbClr>
          </a:solidFill>
          <a:ln w="12700">
            <a:solidFill>
              <a:srgbClr val="2B5A77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727448" y="1664208"/>
            <a:ext cx="2697480" cy="320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DE2D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Validated state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4736592" y="2148840"/>
            <a:ext cx="2377440" cy="150876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State Constraint Engine on every transition
</a:t>
            </a:r>
            <a:pPr indent="0" marL="0">
              <a:buNone/>
            </a:pPr>
            <a:r>
              <a:rPr lang="en-US" sz="130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Append-only audit log with per-field deltas
</a:t>
            </a:r>
            <a:pPr indent="0" marL="0">
              <a:buNone/>
            </a:pPr>
            <a:r>
              <a:rPr lang="en-US" sz="130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Replayable RedPanda event mesh
</a:t>
            </a:r>
            <a:pPr indent="0" marL="0">
              <a:buNone/>
            </a:pPr>
            <a:r>
              <a:rPr lang="en-US" sz="130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Tenant-scoped predicates and approvals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8183880" y="1417320"/>
            <a:ext cx="3108960" cy="3520440"/>
          </a:xfrm>
          <a:prstGeom prst="roundRect">
            <a:avLst>
              <a:gd name="adj" fmla="val 2353"/>
            </a:avLst>
          </a:prstGeom>
          <a:solidFill>
            <a:srgbClr val="0F2235">
              <a:alpha val="95000"/>
            </a:srgbClr>
          </a:solidFill>
          <a:ln w="12700">
            <a:solidFill>
              <a:srgbClr val="2B5A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385048" y="1664208"/>
            <a:ext cx="2697480" cy="320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DE2D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Signed authority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8394192" y="2148840"/>
            <a:ext cx="2377440" cy="150876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OPE Policies compile to runtime constraints
</a:t>
            </a:r>
            <a:pPr indent="0" marL="0">
              <a:buNone/>
            </a:pPr>
            <a:r>
              <a:rPr lang="en-US" sz="130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Draft → sign → active → amend → supersede
</a:t>
            </a:r>
            <a:pPr indent="0" marL="0">
              <a:buNone/>
            </a:pPr>
            <a:r>
              <a:rPr lang="en-US" sz="130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No-delete principle preserves the audit trail
</a:t>
            </a:r>
            <a:pPr indent="0" marL="0">
              <a:buNone/>
            </a:pPr>
            <a:r>
              <a:rPr lang="en-US" sz="130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Standard Library: SOX, AS9100, CMMC, ITAR, …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1115568" y="5532120"/>
            <a:ext cx="9966960" cy="4572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All three layers are running C++ code as of May 2026. This is built, not planned.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594360" y="6473952"/>
            <a:ext cx="2926080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850" dirty="0">
                <a:solidFill>
                  <a:srgbClr val="6F889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Mimir Labs • Investor Deck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11292840" y="6473952"/>
            <a:ext cx="411480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r" indent="0" marL="0">
              <a:buNone/>
            </a:pPr>
            <a:r>
              <a:rPr lang="en-US" sz="850" dirty="0">
                <a:solidFill>
                  <a:srgbClr val="6F889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03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813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131F"/>
          </a:solidFill>
          <a:ln w="12700">
            <a:solidFill>
              <a:srgbClr val="08131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64008" cy="6858000"/>
          </a:xfrm>
          <a:prstGeom prst="rect">
            <a:avLst/>
          </a:prstGeom>
          <a:solidFill>
            <a:srgbClr val="2DE2D1"/>
          </a:solidFill>
          <a:ln w="12700">
            <a:solidFill>
              <a:srgbClr val="2DE2D1">
                <a:alpha val="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94360" y="320040"/>
            <a:ext cx="7132320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F4F8F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Platform shape: discovery first, authority next</a:t>
            </a:r>
            <a:endParaRPr lang="en-US" sz="2700" dirty="0"/>
          </a:p>
        </p:txBody>
      </p:sp>
      <p:sp>
        <p:nvSpPr>
          <p:cNvPr id="8" name="Text 6"/>
          <p:cNvSpPr/>
          <p:nvPr/>
        </p:nvSpPr>
        <p:spPr>
          <a:xfrm>
            <a:off x="612648" y="877824"/>
            <a:ext cx="7772400" cy="320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250" dirty="0">
                <a:solidFill>
                  <a:srgbClr val="A9B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new deck centers on Ratatosk as the entry point and Yggdrasil ERP as the governed reference implementation.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85800" y="1828800"/>
            <a:ext cx="1508760" cy="960120"/>
          </a:xfrm>
          <a:prstGeom prst="roundRect">
            <a:avLst>
              <a:gd name="adj" fmla="val 7619"/>
            </a:avLst>
          </a:prstGeom>
          <a:solidFill>
            <a:srgbClr val="06111C">
              <a:alpha val="96000"/>
            </a:srgbClr>
          </a:solidFill>
          <a:ln w="12700">
            <a:solidFill>
              <a:srgbClr val="F6C65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58952" y="1984248"/>
            <a:ext cx="1353312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6C65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Ratatosk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795528" y="2267712"/>
            <a:ext cx="1280160" cy="320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ctr" indent="0" marL="0">
              <a:buNone/>
            </a:pPr>
            <a:r>
              <a:rPr lang="en-US" sz="880" dirty="0">
                <a:solidFill>
                  <a:srgbClr val="A9B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Qt 6 governance tool — 10 pages, VBA decomp</a:t>
            </a:r>
            <a:endParaRPr lang="en-US" sz="880" dirty="0"/>
          </a:p>
        </p:txBody>
      </p:sp>
      <p:sp>
        <p:nvSpPr>
          <p:cNvPr id="12" name="Shape 10"/>
          <p:cNvSpPr/>
          <p:nvPr/>
        </p:nvSpPr>
        <p:spPr>
          <a:xfrm>
            <a:off x="2203704" y="2304288"/>
            <a:ext cx="329184" cy="1335024"/>
          </a:xfrm>
          <a:prstGeom prst="line">
            <a:avLst/>
          </a:prstGeom>
          <a:noFill/>
          <a:ln w="19050">
            <a:solidFill>
              <a:srgbClr val="2DE2D1"/>
            </a:solidFill>
            <a:prstDash val="solid"/>
            <a:headEnd type="none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2560320" y="3246120"/>
            <a:ext cx="1508760" cy="960120"/>
          </a:xfrm>
          <a:prstGeom prst="roundRect">
            <a:avLst>
              <a:gd name="adj" fmla="val 7619"/>
            </a:avLst>
          </a:prstGeom>
          <a:solidFill>
            <a:srgbClr val="06111C">
              <a:alpha val="96000"/>
            </a:srgbClr>
          </a:solidFill>
          <a:ln w="12700">
            <a:solidFill>
              <a:srgbClr val="2DE2D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33472" y="3401568"/>
            <a:ext cx="1353312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DE2D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Ragnarok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2670048" y="3685032"/>
            <a:ext cx="1280160" cy="320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ctr" indent="0" marL="0">
              <a:buNone/>
            </a:pPr>
            <a:r>
              <a:rPr lang="en-US" sz="880" dirty="0">
                <a:solidFill>
                  <a:srgbClr val="A9B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Qt 6 migration tool — 12 engines, 10 pages</a:t>
            </a:r>
            <a:endParaRPr lang="en-US" sz="880" dirty="0"/>
          </a:p>
        </p:txBody>
      </p:sp>
      <p:sp>
        <p:nvSpPr>
          <p:cNvPr id="16" name="Shape 14"/>
          <p:cNvSpPr/>
          <p:nvPr/>
        </p:nvSpPr>
        <p:spPr>
          <a:xfrm>
            <a:off x="4078224" y="3721608"/>
            <a:ext cx="329184" cy="-1417320"/>
          </a:xfrm>
          <a:prstGeom prst="line">
            <a:avLst/>
          </a:prstGeom>
          <a:noFill/>
          <a:ln w="19050">
            <a:solidFill>
              <a:srgbClr val="2DE2D1"/>
            </a:solidFill>
            <a:prstDash val="solid"/>
            <a:headEnd type="none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4434840" y="1828800"/>
            <a:ext cx="1508760" cy="960120"/>
          </a:xfrm>
          <a:prstGeom prst="roundRect">
            <a:avLst>
              <a:gd name="adj" fmla="val 7619"/>
            </a:avLst>
          </a:prstGeom>
          <a:solidFill>
            <a:srgbClr val="06111C">
              <a:alpha val="96000"/>
            </a:srgbClr>
          </a:solidFill>
          <a:ln w="12700">
            <a:solidFill>
              <a:srgbClr val="2DE2D1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507992" y="1984248"/>
            <a:ext cx="1353312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DE2D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Bifrost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4544568" y="2267712"/>
            <a:ext cx="1280160" cy="320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ctr" indent="0" marL="0">
              <a:buNone/>
            </a:pPr>
            <a:r>
              <a:rPr lang="en-US" sz="880" dirty="0">
                <a:solidFill>
                  <a:srgbClr val="A9B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Qt 6 integration engine — 9 panels, 13 playbooks</a:t>
            </a:r>
            <a:endParaRPr lang="en-US" sz="880" dirty="0"/>
          </a:p>
        </p:txBody>
      </p:sp>
      <p:sp>
        <p:nvSpPr>
          <p:cNvPr id="20" name="Shape 18"/>
          <p:cNvSpPr/>
          <p:nvPr/>
        </p:nvSpPr>
        <p:spPr>
          <a:xfrm>
            <a:off x="5952744" y="2304288"/>
            <a:ext cx="329184" cy="1335024"/>
          </a:xfrm>
          <a:prstGeom prst="line">
            <a:avLst/>
          </a:prstGeom>
          <a:noFill/>
          <a:ln w="19050">
            <a:solidFill>
              <a:srgbClr val="2DE2D1"/>
            </a:solidFill>
            <a:prstDash val="solid"/>
            <a:headEnd type="none"/>
            <a:tailEnd type="triangle"/>
          </a:ln>
        </p:spPr>
      </p:sp>
      <p:sp>
        <p:nvSpPr>
          <p:cNvPr id="21" name="Shape 19"/>
          <p:cNvSpPr/>
          <p:nvPr/>
        </p:nvSpPr>
        <p:spPr>
          <a:xfrm>
            <a:off x="6309360" y="3246120"/>
            <a:ext cx="1508760" cy="960120"/>
          </a:xfrm>
          <a:prstGeom prst="roundRect">
            <a:avLst>
              <a:gd name="adj" fmla="val 7619"/>
            </a:avLst>
          </a:prstGeom>
          <a:solidFill>
            <a:srgbClr val="06111C">
              <a:alpha val="96000"/>
            </a:srgbClr>
          </a:solidFill>
          <a:ln w="12700">
            <a:solidFill>
              <a:srgbClr val="2DE2D1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382512" y="3401568"/>
            <a:ext cx="1353312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DE2D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Yggdrasil ERP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6419088" y="3685032"/>
            <a:ext cx="1280160" cy="320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ctr" indent="0" marL="0">
              <a:buNone/>
            </a:pPr>
            <a:r>
              <a:rPr lang="en-US" sz="880" dirty="0">
                <a:solidFill>
                  <a:srgbClr val="A9B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ERP — 323 tables, 10 modules, OPE governance</a:t>
            </a:r>
            <a:endParaRPr lang="en-US" sz="880" dirty="0"/>
          </a:p>
        </p:txBody>
      </p:sp>
      <p:sp>
        <p:nvSpPr>
          <p:cNvPr id="24" name="Shape 22"/>
          <p:cNvSpPr/>
          <p:nvPr/>
        </p:nvSpPr>
        <p:spPr>
          <a:xfrm>
            <a:off x="7827264" y="3721608"/>
            <a:ext cx="329184" cy="-1417320"/>
          </a:xfrm>
          <a:prstGeom prst="line">
            <a:avLst/>
          </a:prstGeom>
          <a:noFill/>
          <a:ln w="19050">
            <a:solidFill>
              <a:srgbClr val="2DE2D1"/>
            </a:solidFill>
            <a:prstDash val="solid"/>
            <a:headEnd type="none"/>
            <a:tailEnd type="triangle"/>
          </a:ln>
        </p:spPr>
      </p:sp>
      <p:sp>
        <p:nvSpPr>
          <p:cNvPr id="25" name="Shape 23"/>
          <p:cNvSpPr/>
          <p:nvPr/>
        </p:nvSpPr>
        <p:spPr>
          <a:xfrm>
            <a:off x="8183880" y="1828800"/>
            <a:ext cx="1508760" cy="960120"/>
          </a:xfrm>
          <a:prstGeom prst="roundRect">
            <a:avLst>
              <a:gd name="adj" fmla="val 7619"/>
            </a:avLst>
          </a:prstGeom>
          <a:solidFill>
            <a:srgbClr val="06111C">
              <a:alpha val="96000"/>
            </a:srgbClr>
          </a:solidFill>
          <a:ln w="12700">
            <a:solidFill>
              <a:srgbClr val="2DE2D1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257032" y="1984248"/>
            <a:ext cx="1353312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DE2D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Jormungandr</a:t>
            </a:r>
            <a:endParaRPr lang="en-US" sz="1800" dirty="0"/>
          </a:p>
        </p:txBody>
      </p:sp>
      <p:sp>
        <p:nvSpPr>
          <p:cNvPr id="27" name="Text 25"/>
          <p:cNvSpPr/>
          <p:nvPr/>
        </p:nvSpPr>
        <p:spPr>
          <a:xfrm>
            <a:off x="8293608" y="2267712"/>
            <a:ext cx="1280160" cy="320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ctr" indent="0" marL="0">
              <a:buNone/>
            </a:pPr>
            <a:r>
              <a:rPr lang="en-US" sz="880" dirty="0">
                <a:solidFill>
                  <a:srgbClr val="A9B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Platform-shadow concepts across federated tenants</a:t>
            </a:r>
            <a:endParaRPr lang="en-US" sz="880" dirty="0"/>
          </a:p>
        </p:txBody>
      </p:sp>
      <p:sp>
        <p:nvSpPr>
          <p:cNvPr id="28" name="Shape 26"/>
          <p:cNvSpPr/>
          <p:nvPr/>
        </p:nvSpPr>
        <p:spPr>
          <a:xfrm>
            <a:off x="9701784" y="2304288"/>
            <a:ext cx="329184" cy="1335024"/>
          </a:xfrm>
          <a:prstGeom prst="line">
            <a:avLst/>
          </a:prstGeom>
          <a:noFill/>
          <a:ln w="19050">
            <a:solidFill>
              <a:srgbClr val="2DE2D1"/>
            </a:solidFill>
            <a:prstDash val="solid"/>
            <a:headEnd type="none"/>
            <a:tailEnd type="triangle"/>
          </a:ln>
        </p:spPr>
      </p:sp>
      <p:sp>
        <p:nvSpPr>
          <p:cNvPr id="29" name="Shape 27"/>
          <p:cNvSpPr/>
          <p:nvPr/>
        </p:nvSpPr>
        <p:spPr>
          <a:xfrm>
            <a:off x="10058400" y="3246120"/>
            <a:ext cx="1508760" cy="960120"/>
          </a:xfrm>
          <a:prstGeom prst="roundRect">
            <a:avLst>
              <a:gd name="adj" fmla="val 7619"/>
            </a:avLst>
          </a:prstGeom>
          <a:solidFill>
            <a:srgbClr val="06111C">
              <a:alpha val="96000"/>
            </a:srgbClr>
          </a:solidFill>
          <a:ln w="12700">
            <a:solidFill>
              <a:srgbClr val="2DE2D1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0131552" y="3401568"/>
            <a:ext cx="1353312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DE2D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Norn</a:t>
            </a:r>
            <a:endParaRPr lang="en-US" sz="1800" dirty="0"/>
          </a:p>
        </p:txBody>
      </p:sp>
      <p:sp>
        <p:nvSpPr>
          <p:cNvPr id="31" name="Text 29"/>
          <p:cNvSpPr/>
          <p:nvPr/>
        </p:nvSpPr>
        <p:spPr>
          <a:xfrm>
            <a:off x="10168128" y="3685032"/>
            <a:ext cx="1280160" cy="320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ctr" indent="0" marL="0">
              <a:buNone/>
            </a:pPr>
            <a:r>
              <a:rPr lang="en-US" sz="880" dirty="0">
                <a:solidFill>
                  <a:srgbClr val="A9B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Contract document pilot — OPE plugin roadmap</a:t>
            </a:r>
            <a:endParaRPr lang="en-US" sz="880" dirty="0"/>
          </a:p>
        </p:txBody>
      </p:sp>
      <p:sp>
        <p:nvSpPr>
          <p:cNvPr id="32" name="Text 30"/>
          <p:cNvSpPr/>
          <p:nvPr/>
        </p:nvSpPr>
        <p:spPr>
          <a:xfrm>
            <a:off x="1143000" y="5303520"/>
            <a:ext cx="9875520" cy="4572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Each tool ships standalone. One shared semantic substrate (Mimisbrunnr) unifies the six.</a:t>
            </a:r>
            <a:endParaRPr lang="en-US" sz="1800" dirty="0"/>
          </a:p>
        </p:txBody>
      </p:sp>
      <p:sp>
        <p:nvSpPr>
          <p:cNvPr id="33" name="Text 31"/>
          <p:cNvSpPr/>
          <p:nvPr/>
        </p:nvSpPr>
        <p:spPr>
          <a:xfrm>
            <a:off x="594360" y="6473952"/>
            <a:ext cx="2926080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850" dirty="0">
                <a:solidFill>
                  <a:srgbClr val="6F889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Mimir Labs • Investor Deck</a:t>
            </a:r>
            <a:endParaRPr lang="en-US" sz="850" dirty="0"/>
          </a:p>
        </p:txBody>
      </p:sp>
      <p:sp>
        <p:nvSpPr>
          <p:cNvPr id="34" name="Text 32"/>
          <p:cNvSpPr/>
          <p:nvPr/>
        </p:nvSpPr>
        <p:spPr>
          <a:xfrm>
            <a:off x="11292840" y="6473952"/>
            <a:ext cx="411480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r" indent="0" marL="0">
              <a:buNone/>
            </a:pPr>
            <a:r>
              <a:rPr lang="en-US" sz="850" dirty="0">
                <a:solidFill>
                  <a:srgbClr val="6F889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04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813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131F"/>
          </a:solidFill>
          <a:ln w="12700">
            <a:solidFill>
              <a:srgbClr val="08131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64008" cy="6858000"/>
          </a:xfrm>
          <a:prstGeom prst="rect">
            <a:avLst/>
          </a:prstGeom>
          <a:solidFill>
            <a:srgbClr val="2DE2D1"/>
          </a:solidFill>
          <a:ln w="12700">
            <a:solidFill>
              <a:srgbClr val="2DE2D1">
                <a:alpha val="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94360" y="320040"/>
            <a:ext cx="7132320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F4F8F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OPE makes the thesis visible</a:t>
            </a:r>
            <a:endParaRPr lang="en-US" sz="2700" dirty="0"/>
          </a:p>
        </p:txBody>
      </p:sp>
      <p:sp>
        <p:nvSpPr>
          <p:cNvPr id="8" name="Text 6"/>
          <p:cNvSpPr/>
          <p:nvPr/>
        </p:nvSpPr>
        <p:spPr>
          <a:xfrm>
            <a:off x="612648" y="877824"/>
            <a:ext cx="7772400" cy="320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250" dirty="0">
                <a:solidFill>
                  <a:srgbClr val="A9B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Operational Policy Enforcement: signed administrative decisions compile to runtime constraints, roles, approval flows, and workflow templates. Shipped May 2026.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777240" y="1325880"/>
            <a:ext cx="2743200" cy="4343400"/>
          </a:xfrm>
          <a:prstGeom prst="roundRect">
            <a:avLst>
              <a:gd name="adj" fmla="val 2667"/>
            </a:avLst>
          </a:prstGeom>
          <a:solidFill>
            <a:srgbClr val="0F2235">
              <a:alpha val="95000"/>
            </a:srgbClr>
          </a:solidFill>
          <a:ln w="12700">
            <a:solidFill>
              <a:srgbClr val="2B5A7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05840" y="1627632"/>
            <a:ext cx="2240280" cy="274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FF6B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Today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1024128" y="2148840"/>
            <a:ext cx="2011680" cy="15544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Board minutes
</a:t>
            </a:r>
            <a:pPr indent="0" marL="0">
              <a:buNone/>
            </a:pPr>
            <a:r>
              <a:rPr lang="en-US" sz="140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Email approvals
</a:t>
            </a:r>
            <a:pPr indent="0" marL="0">
              <a:buNone/>
            </a:pPr>
            <a:r>
              <a:rPr lang="en-US" sz="140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Policy PDFs
</a:t>
            </a:r>
            <a:pPr indent="0" marL="0">
              <a:buNone/>
            </a:pPr>
            <a:r>
              <a:rPr lang="en-US" sz="140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Teams threads
</a:t>
            </a:r>
            <a:pPr indent="0" marL="0">
              <a:buNone/>
            </a:pPr>
            <a:r>
              <a:rPr lang="en-US" sz="140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Tribal memory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4754880" y="1325880"/>
            <a:ext cx="2743200" cy="4343400"/>
          </a:xfrm>
          <a:prstGeom prst="roundRect">
            <a:avLst>
              <a:gd name="adj" fmla="val 2667"/>
            </a:avLst>
          </a:prstGeom>
          <a:solidFill>
            <a:srgbClr val="0F2235">
              <a:alpha val="95000"/>
            </a:srgbClr>
          </a:solidFill>
          <a:ln w="12700">
            <a:solidFill>
              <a:srgbClr val="F6C65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983480" y="1627632"/>
            <a:ext cx="2240280" cy="274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F6C65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OPE Policy</a:t>
            </a:r>
            <a:endParaRPr lang="en-US" sz="1900" dirty="0"/>
          </a:p>
        </p:txBody>
      </p:sp>
      <p:sp>
        <p:nvSpPr>
          <p:cNvPr id="14" name="Text 12"/>
          <p:cNvSpPr/>
          <p:nvPr/>
        </p:nvSpPr>
        <p:spPr>
          <a:xfrm>
            <a:off x="5001768" y="2148840"/>
            <a:ext cx="2011680" cy="15544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Compound predicates (AND/OR/NOT/IF-THEN)
</a:t>
            </a:r>
            <a:pPr indent="0" marL="0">
              <a:buNone/>
            </a:pPr>
            <a:r>
              <a:rPr lang="en-US" sz="140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Named Conditions library (versioned)
</a:t>
            </a:r>
            <a:pPr indent="0" marL="0">
              <a:buNone/>
            </a:pPr>
            <a:r>
              <a:rPr lang="en-US" sz="140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Policy Phases (pre / gate / post / observer)
</a:t>
            </a:r>
            <a:pPr indent="0" marL="0">
              <a:buNone/>
            </a:pPr>
            <a:r>
              <a:rPr lang="en-US" sz="140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Multi-action THEN + JSONB capture
</a:t>
            </a:r>
            <a:pPr indent="0" marL="0">
              <a:buNone/>
            </a:pPr>
            <a:r>
              <a:rPr lang="en-US" sz="140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Signed lifecycle: draft → active → superseded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8641080" y="1325880"/>
            <a:ext cx="2743200" cy="4343400"/>
          </a:xfrm>
          <a:prstGeom prst="roundRect">
            <a:avLst>
              <a:gd name="adj" fmla="val 2667"/>
            </a:avLst>
          </a:prstGeom>
          <a:solidFill>
            <a:srgbClr val="0F2235">
              <a:alpha val="95000"/>
            </a:srgbClr>
          </a:solidFill>
          <a:ln w="12700">
            <a:solidFill>
              <a:srgbClr val="2DE2D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869680" y="1627632"/>
            <a:ext cx="2240280" cy="274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2DE2D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Runtime effect</a:t>
            </a:r>
            <a:endParaRPr lang="en-US" sz="1900" dirty="0"/>
          </a:p>
        </p:txBody>
      </p:sp>
      <p:sp>
        <p:nvSpPr>
          <p:cNvPr id="17" name="Text 15"/>
          <p:cNvSpPr/>
          <p:nvPr/>
        </p:nvSpPr>
        <p:spPr>
          <a:xfrm>
            <a:off x="8887968" y="2148840"/>
            <a:ext cx="2011680" cy="15544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Allowed
</a:t>
            </a:r>
            <a:pPr indent="0" marL="0">
              <a:buNone/>
            </a:pPr>
            <a:r>
              <a:rPr lang="en-US" sz="140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Blocked
</a:t>
            </a:r>
            <a:pPr indent="0" marL="0">
              <a:buNone/>
            </a:pPr>
            <a:r>
              <a:rPr lang="en-US" sz="140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Routed
</a:t>
            </a:r>
            <a:pPr indent="0" marL="0">
              <a:buNone/>
            </a:pPr>
            <a:r>
              <a:rPr lang="en-US" sz="140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Escalated
</a:t>
            </a:r>
            <a:pPr indent="0" marL="0">
              <a:buNone/>
            </a:pPr>
            <a:r>
              <a:rPr lang="en-US" sz="140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Audited (per-field)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3611880" y="3429000"/>
            <a:ext cx="1033272" cy="0"/>
          </a:xfrm>
          <a:prstGeom prst="line">
            <a:avLst/>
          </a:prstGeom>
          <a:noFill/>
          <a:ln w="25400">
            <a:solidFill>
              <a:srgbClr val="2DE2D1"/>
            </a:solidFill>
            <a:prstDash val="solid"/>
            <a:headEnd type="none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7607808" y="3429000"/>
            <a:ext cx="941832" cy="0"/>
          </a:xfrm>
          <a:prstGeom prst="line">
            <a:avLst/>
          </a:prstGeom>
          <a:noFill/>
          <a:ln w="25400">
            <a:solidFill>
              <a:srgbClr val="2DE2D1"/>
            </a:solidFill>
            <a:prstDash val="solid"/>
            <a:headEnd type="none"/>
            <a:tailEnd type="triangle"/>
          </a:ln>
        </p:spPr>
      </p:sp>
      <p:sp>
        <p:nvSpPr>
          <p:cNvPr id="20" name="Text 18"/>
          <p:cNvSpPr/>
          <p:nvPr/>
        </p:nvSpPr>
        <p:spPr>
          <a:xfrm>
            <a:off x="822960" y="5989320"/>
            <a:ext cx="10789920" cy="320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ctr" indent="0" marL="0">
              <a:buNone/>
            </a:pPr>
            <a:r>
              <a:rPr lang="en-US" sz="1520" dirty="0">
                <a:solidFill>
                  <a:srgbClr val="A9B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Eight Standard Library templates ship today across SOX, AS9100, AS9102, ISO 9001, CMMC, and OFAC. Mimisbrunnr carries the controls vocabulary.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594360" y="6473952"/>
            <a:ext cx="2926080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850" dirty="0">
                <a:solidFill>
                  <a:srgbClr val="6F889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Mimir Labs • Investor Deck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11292840" y="6473952"/>
            <a:ext cx="411480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r" indent="0" marL="0">
              <a:buNone/>
            </a:pPr>
            <a:r>
              <a:rPr lang="en-US" sz="850" dirty="0">
                <a:solidFill>
                  <a:srgbClr val="6F889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05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813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131F"/>
          </a:solidFill>
          <a:ln w="12700">
            <a:solidFill>
              <a:srgbClr val="08131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64008" cy="6858000"/>
          </a:xfrm>
          <a:prstGeom prst="rect">
            <a:avLst/>
          </a:prstGeom>
          <a:solidFill>
            <a:srgbClr val="2DE2D1"/>
          </a:solidFill>
          <a:ln w="12700">
            <a:solidFill>
              <a:srgbClr val="2DE2D1">
                <a:alpha val="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94360" y="320040"/>
            <a:ext cx="7132320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F4F8F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Market: $10B and growing 8–10% CAGR, with the SMB tier underserved</a:t>
            </a:r>
            <a:endParaRPr lang="en-US" sz="2700" dirty="0"/>
          </a:p>
        </p:txBody>
      </p:sp>
      <p:sp>
        <p:nvSpPr>
          <p:cNvPr id="8" name="Text 6"/>
          <p:cNvSpPr/>
          <p:nvPr/>
        </p:nvSpPr>
        <p:spPr>
          <a:xfrm>
            <a:off x="612648" y="877824"/>
            <a:ext cx="7772400" cy="320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250" dirty="0">
                <a:solidFill>
                  <a:srgbClr val="A9B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Manufacturing ERP is a large, established market where mid-market manufacturers (10–500 employees) are systematically failed by incumbents. We sell into that gap.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1115568" y="5532120"/>
            <a:ext cx="9966960" cy="4572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Mid-market manufacturers pay $45K–$250K/yr to incumbents (Epicor, Sage, Infor) for systems they actively distrust. Same budget, better product.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594360" y="6473952"/>
            <a:ext cx="2926080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850" dirty="0">
                <a:solidFill>
                  <a:srgbClr val="6F889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Mimir Labs • Investor Deck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11292840" y="6473952"/>
            <a:ext cx="411480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r" indent="0" marL="0">
              <a:buNone/>
            </a:pPr>
            <a:r>
              <a:rPr lang="en-US" sz="850" dirty="0">
                <a:solidFill>
                  <a:srgbClr val="6F889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06</a:t>
            </a:r>
            <a:endParaRPr lang="en-US" sz="850" dirty="0"/>
          </a:p>
        </p:txBody>
      </p:sp>
      <p:sp>
        <p:nvSpPr>
          <p:cNvPr id="21" name="Funnel TAM"/>
          <p:cNvSpPr/>
          <p:nvPr/>
        </p:nvSpPr>
        <p:spPr>
          <a:xfrm>
            <a:off x="1065276" y="1417320"/>
            <a:ext cx="10058400" cy="1005840"/>
          </a:xfrm>
          <a:prstGeom prst="roundRect">
            <a:avLst>
              <a:gd name="adj" fmla="val 8000"/>
            </a:avLst>
          </a:prstGeom>
          <a:solidFill>
            <a:srgbClr val="0F2235">
              <a:alpha val="95000"/>
            </a:srgbClr>
          </a:solidFill>
          <a:ln w="19050">
            <a:solidFill>
              <a:srgbClr val="2B5A77"/>
            </a:solidFill>
            <a:prstDash val="solid"/>
          </a:ln>
        </p:spPr>
        <p:txBody>
          <a:bodyPr wrap="square" lIns="91440" tIns="91440" rIns="91440" bIns="91440" rtlCol="0" anchor="ctr">
            <a:normAutofit/>
          </a:bodyPr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2DE2D1"/>
                </a:solidFill>
                <a:latin typeface="Aptos" pitchFamily="34" charset="0"/>
              </a:rPr>
              <a:t>$10B</a:t>
            </a:r>
          </a:p>
          <a:p>
            <a:pPr algn="ctr" indent="0" marL="0">
              <a:buNone/>
            </a:pPr>
            <a:r>
              <a:rPr lang="en-US" sz="1800" dirty="0">
                <a:solidFill>
                  <a:srgbClr val="F4F8FB"/>
                </a:solidFill>
                <a:latin typeface="Aptos" pitchFamily="34" charset="0"/>
              </a:rPr>
              <a:t>TAM — Global manufacturing ERP • 8–10% CAGR through 2030 • $281B full ERP by 2034</a:t>
            </a:r>
          </a:p>
        </p:txBody>
      </p:sp>
      <p:sp>
        <p:nvSpPr>
          <p:cNvPr id="22" name="Funnel SAM"/>
          <p:cNvSpPr/>
          <p:nvPr/>
        </p:nvSpPr>
        <p:spPr>
          <a:xfrm>
            <a:off x="2894076" y="2606040"/>
            <a:ext cx="6400800" cy="1005840"/>
          </a:xfrm>
          <a:prstGeom prst="roundRect">
            <a:avLst>
              <a:gd name="adj" fmla="val 8000"/>
            </a:avLst>
          </a:prstGeom>
          <a:solidFill>
            <a:srgbClr val="13344F">
              <a:alpha val="95000"/>
            </a:srgbClr>
          </a:solidFill>
          <a:ln w="19050">
            <a:solidFill>
              <a:srgbClr val="2B5A77"/>
            </a:solidFill>
            <a:prstDash val="solid"/>
          </a:ln>
        </p:spPr>
        <p:txBody>
          <a:bodyPr wrap="square" lIns="91440" tIns="91440" rIns="91440" bIns="91440" rtlCol="0" anchor="ctr">
            <a:normAutofit/>
          </a:bodyPr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2DE2D1"/>
                </a:solidFill>
                <a:latin typeface="Aptos" pitchFamily="34" charset="0"/>
              </a:rPr>
              <a:t>~$3.5B</a:t>
            </a:r>
          </a:p>
          <a:p>
            <a:pPr algn="ctr" indent="0" marL="0">
              <a:buNone/>
            </a:pPr>
            <a:r>
              <a:rPr lang="en-US" sz="1800" dirty="0">
                <a:solidFill>
                  <a:srgbClr val="F4F8FB"/>
                </a:solidFill>
                <a:latin typeface="Aptos" pitchFamily="34" charset="0"/>
              </a:rPr>
              <a:t>SAM — Mid-market manufacturing, 10–500 employees, US + EU • AS9100 / CMMC / ISO / ITAR</a:t>
            </a:r>
          </a:p>
        </p:txBody>
      </p:sp>
      <p:sp>
        <p:nvSpPr>
          <p:cNvPr id="23" name="Funnel SOM"/>
          <p:cNvSpPr/>
          <p:nvPr/>
        </p:nvSpPr>
        <p:spPr>
          <a:xfrm>
            <a:off x="4494276" y="3794760"/>
            <a:ext cx="3200400" cy="1005840"/>
          </a:xfrm>
          <a:prstGeom prst="roundRect">
            <a:avLst>
              <a:gd name="adj" fmla="val 8000"/>
            </a:avLst>
          </a:prstGeom>
          <a:solidFill>
            <a:srgbClr val="1A4F6E">
              <a:alpha val="95000"/>
            </a:srgbClr>
          </a:solidFill>
          <a:ln w="19050">
            <a:solidFill>
              <a:srgbClr val="2DE2D1"/>
            </a:solidFill>
            <a:prstDash val="solid"/>
          </a:ln>
        </p:spPr>
        <p:txBody>
          <a:bodyPr wrap="square" lIns="91440" tIns="91440" rIns="91440" bIns="91440" rtlCol="0" anchor="ctr">
            <a:normAutofit/>
          </a:bodyPr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2DE2D1"/>
                </a:solidFill>
                <a:latin typeface="Aptos" pitchFamily="34" charset="0"/>
              </a:rPr>
              <a:t>~$160M</a:t>
            </a:r>
          </a:p>
          <a:p>
            <a:pPr algn="ctr" indent="0" marL="0">
              <a:buNone/>
            </a:pPr>
            <a:r>
              <a:rPr lang="en-US" sz="1800" dirty="0">
                <a:solidFill>
                  <a:srgbClr val="F4F8FB"/>
                </a:solidFill>
                <a:latin typeface="Aptos" pitchFamily="34" charset="0"/>
              </a:rPr>
              <a:t>SOM — PA + adjacent, 3,500 shops • Target 50–150 by Year 5</a:t>
            </a:r>
          </a:p>
        </p:txBody>
      </p:sp>
      <p:sp>
        <p:nvSpPr>
          <p:cNvPr id="200" name="Beachhead Label"/>
          <p:cNvSpPr/>
          <p:nvPr/>
        </p:nvSpPr>
        <p:spPr>
          <a:xfrm>
            <a:off x="996696" y="4983480"/>
            <a:ext cx="2194560" cy="502920"/>
          </a:xfrm>
          <a:prstGeom prst="rect">
            <a:avLst/>
          </a:prstGeom>
          <a:noFill/>
          <a:ln/>
        </p:spPr>
        <p:txBody>
          <a:bodyPr wrap="square" lIns="36576" tIns="36576" rIns="36576" bIns="36576" rtlCol="0" anchor="ctr">
            <a:normAutofit/>
          </a:bodyPr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A9BED0"/>
                </a:solidFill>
                <a:latin typeface="Aptos" pitchFamily="34" charset="0"/>
              </a:rPr>
              <a:t>BEACHHEAD  </a:t>
            </a:r>
            <a:r>
              <a:rPr lang="en-US" sz="2000" b="1" dirty="0">
                <a:solidFill>
                  <a:srgbClr val="2DE2D1"/>
                </a:solidFill>
                <a:latin typeface="Aptos" pitchFamily="34" charset="0"/>
              </a:rPr>
              <a:t>→</a:t>
            </a:r>
          </a:p>
        </p:txBody>
      </p:sp>
      <p:sp>
        <p:nvSpPr>
          <p:cNvPr id="201" name="State_OH"/>
          <p:cNvSpPr/>
          <p:nvPr/>
        </p:nvSpPr>
        <p:spPr>
          <a:xfrm>
            <a:off x="3282696" y="4983480"/>
            <a:ext cx="1508760" cy="502920"/>
          </a:xfrm>
          <a:prstGeom prst="roundRect">
            <a:avLst>
              <a:gd name="adj" fmla="val 12000"/>
            </a:avLst>
          </a:prstGeom>
          <a:solidFill>
            <a:srgbClr val="13344F">
              <a:alpha val="95000"/>
            </a:srgbClr>
          </a:solidFill>
          <a:ln w="12700">
            <a:solidFill>
              <a:srgbClr val="2B5A77"/>
            </a:solidFill>
            <a:prstDash val="solid"/>
          </a:ln>
        </p:spPr>
        <p:txBody>
          <a:bodyPr wrap="square" lIns="36576" tIns="36576" rIns="36576" bIns="36576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DE2D1"/>
                </a:solidFill>
                <a:latin typeface="Aptos" pitchFamily="34" charset="0"/>
              </a:rPr>
              <a:t>OH</a:t>
            </a:r>
            <a:r>
              <a:rPr lang="en-US" sz="1300" dirty="0">
                <a:solidFill>
                  <a:srgbClr val="F4F8FB"/>
                </a:solidFill>
                <a:latin typeface="Aptos" pitchFamily="34" charset="0"/>
              </a:rPr>
              <a:t>  ~600</a:t>
            </a:r>
          </a:p>
        </p:txBody>
      </p:sp>
      <p:sp>
        <p:nvSpPr>
          <p:cNvPr id="202" name="State_PA"/>
          <p:cNvSpPr/>
          <p:nvPr/>
        </p:nvSpPr>
        <p:spPr>
          <a:xfrm>
            <a:off x="4882896" y="4983480"/>
            <a:ext cx="1508760" cy="502920"/>
          </a:xfrm>
          <a:prstGeom prst="roundRect">
            <a:avLst>
              <a:gd name="adj" fmla="val 12000"/>
            </a:avLst>
          </a:prstGeom>
          <a:solidFill>
            <a:srgbClr val="1A4F6E">
              <a:alpha val="95000"/>
            </a:srgbClr>
          </a:solidFill>
          <a:ln w="12700">
            <a:solidFill>
              <a:srgbClr val="2DE2D1"/>
            </a:solidFill>
            <a:prstDash val="solid"/>
          </a:ln>
        </p:spPr>
        <p:txBody>
          <a:bodyPr wrap="square" lIns="36576" tIns="36576" rIns="36576" bIns="36576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DE2D1"/>
                </a:solidFill>
                <a:latin typeface="Aptos" pitchFamily="34" charset="0"/>
              </a:rPr>
              <a:t>PA</a:t>
            </a:r>
            <a:r>
              <a:rPr lang="en-US" sz="1300" dirty="0">
                <a:solidFill>
                  <a:srgbClr val="F4F8FB"/>
                </a:solidFill>
                <a:latin typeface="Aptos" pitchFamily="34" charset="0"/>
              </a:rPr>
              <a:t>  ~1,400</a:t>
            </a:r>
          </a:p>
        </p:txBody>
      </p:sp>
      <p:sp>
        <p:nvSpPr>
          <p:cNvPr id="203" name="State_NY"/>
          <p:cNvSpPr/>
          <p:nvPr/>
        </p:nvSpPr>
        <p:spPr>
          <a:xfrm>
            <a:off x="6483096" y="4983480"/>
            <a:ext cx="1508760" cy="502920"/>
          </a:xfrm>
          <a:prstGeom prst="roundRect">
            <a:avLst>
              <a:gd name="adj" fmla="val 12000"/>
            </a:avLst>
          </a:prstGeom>
          <a:solidFill>
            <a:srgbClr val="13344F">
              <a:alpha val="95000"/>
            </a:srgbClr>
          </a:solidFill>
          <a:ln w="12700">
            <a:solidFill>
              <a:srgbClr val="2B5A77"/>
            </a:solidFill>
            <a:prstDash val="solid"/>
          </a:ln>
        </p:spPr>
        <p:txBody>
          <a:bodyPr wrap="square" lIns="36576" tIns="36576" rIns="36576" bIns="36576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DE2D1"/>
                </a:solidFill>
                <a:latin typeface="Aptos" pitchFamily="34" charset="0"/>
              </a:rPr>
              <a:t>NY</a:t>
            </a:r>
            <a:r>
              <a:rPr lang="en-US" sz="1300" dirty="0">
                <a:solidFill>
                  <a:srgbClr val="F4F8FB"/>
                </a:solidFill>
                <a:latin typeface="Aptos" pitchFamily="34" charset="0"/>
              </a:rPr>
              <a:t>  ~500</a:t>
            </a:r>
          </a:p>
        </p:txBody>
      </p:sp>
      <p:sp>
        <p:nvSpPr>
          <p:cNvPr id="204" name="State_NJ"/>
          <p:cNvSpPr/>
          <p:nvPr/>
        </p:nvSpPr>
        <p:spPr>
          <a:xfrm>
            <a:off x="8083296" y="4983480"/>
            <a:ext cx="1508760" cy="502920"/>
          </a:xfrm>
          <a:prstGeom prst="roundRect">
            <a:avLst>
              <a:gd name="adj" fmla="val 12000"/>
            </a:avLst>
          </a:prstGeom>
          <a:solidFill>
            <a:srgbClr val="13344F">
              <a:alpha val="95000"/>
            </a:srgbClr>
          </a:solidFill>
          <a:ln w="12700">
            <a:solidFill>
              <a:srgbClr val="2B5A77"/>
            </a:solidFill>
            <a:prstDash val="solid"/>
          </a:ln>
        </p:spPr>
        <p:txBody>
          <a:bodyPr wrap="square" lIns="36576" tIns="36576" rIns="36576" bIns="36576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DE2D1"/>
                </a:solidFill>
                <a:latin typeface="Aptos" pitchFamily="34" charset="0"/>
              </a:rPr>
              <a:t>NJ</a:t>
            </a:r>
            <a:r>
              <a:rPr lang="en-US" sz="1300" dirty="0">
                <a:solidFill>
                  <a:srgbClr val="F4F8FB"/>
                </a:solidFill>
                <a:latin typeface="Aptos" pitchFamily="34" charset="0"/>
              </a:rPr>
              <a:t>  ~600</a:t>
            </a:r>
          </a:p>
        </p:txBody>
      </p:sp>
      <p:sp>
        <p:nvSpPr>
          <p:cNvPr id="205" name="State_MD"/>
          <p:cNvSpPr/>
          <p:nvPr/>
        </p:nvSpPr>
        <p:spPr>
          <a:xfrm>
            <a:off x="9683496" y="4983480"/>
            <a:ext cx="1508760" cy="502920"/>
          </a:xfrm>
          <a:prstGeom prst="roundRect">
            <a:avLst>
              <a:gd name="adj" fmla="val 12000"/>
            </a:avLst>
          </a:prstGeom>
          <a:solidFill>
            <a:srgbClr val="13344F">
              <a:alpha val="95000"/>
            </a:srgbClr>
          </a:solidFill>
          <a:ln w="12700">
            <a:solidFill>
              <a:srgbClr val="2B5A77"/>
            </a:solidFill>
            <a:prstDash val="solid"/>
          </a:ln>
        </p:spPr>
        <p:txBody>
          <a:bodyPr wrap="square" lIns="36576" tIns="36576" rIns="36576" bIns="36576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DE2D1"/>
                </a:solidFill>
                <a:latin typeface="Aptos" pitchFamily="34" charset="0"/>
              </a:rPr>
              <a:t>MD</a:t>
            </a:r>
            <a:r>
              <a:rPr lang="en-US" sz="1300" dirty="0">
                <a:solidFill>
                  <a:srgbClr val="F4F8FB"/>
                </a:solidFill>
                <a:latin typeface="Aptos" pitchFamily="34" charset="0"/>
              </a:rPr>
              <a:t>  ~400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813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131F"/>
          </a:solidFill>
          <a:ln w="12700">
            <a:solidFill>
              <a:srgbClr val="08131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64008" cy="6858000"/>
          </a:xfrm>
          <a:prstGeom prst="rect">
            <a:avLst/>
          </a:prstGeom>
          <a:solidFill>
            <a:srgbClr val="2DE2D1"/>
          </a:solidFill>
          <a:ln w="12700">
            <a:solidFill>
              <a:srgbClr val="2DE2D1">
                <a:alpha val="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94360" y="320040"/>
            <a:ext cx="7132320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F4F8F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Business model: services-led proof, platform-led expansion</a:t>
            </a:r>
            <a:endParaRPr lang="en-US" sz="2700" dirty="0"/>
          </a:p>
        </p:txBody>
      </p:sp>
      <p:sp>
        <p:nvSpPr>
          <p:cNvPr id="8" name="Text 6"/>
          <p:cNvSpPr/>
          <p:nvPr/>
        </p:nvSpPr>
        <p:spPr>
          <a:xfrm>
            <a:off x="612648" y="877824"/>
            <a:ext cx="7772400" cy="320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250" dirty="0">
                <a:solidFill>
                  <a:srgbClr val="A9B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Ratatosk creates revenue and proprietary insight before full platform displacement is required.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868680" y="1325880"/>
            <a:ext cx="10378440" cy="566928"/>
          </a:xfrm>
          <a:prstGeom prst="roundRect">
            <a:avLst>
              <a:gd name="adj" fmla="val 12903"/>
            </a:avLst>
          </a:prstGeom>
          <a:solidFill>
            <a:srgbClr val="071523">
              <a:alpha val="92000"/>
            </a:srgbClr>
          </a:solidFill>
          <a:ln w="12700">
            <a:solidFill>
              <a:srgbClr val="244A6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0" y="1481328"/>
            <a:ext cx="2743200" cy="1828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2DE2D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Ratatosk diagnostic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4160520" y="1481328"/>
            <a:ext cx="2011680" cy="1828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22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Fixed project fee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6400800" y="1481328"/>
            <a:ext cx="4206240" cy="1828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180" dirty="0">
                <a:solidFill>
                  <a:srgbClr val="A9B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Fast proof and artifact generation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868680" y="2112264"/>
            <a:ext cx="10378440" cy="566928"/>
          </a:xfrm>
          <a:prstGeom prst="roundRect">
            <a:avLst>
              <a:gd name="adj" fmla="val 12903"/>
            </a:avLst>
          </a:prstGeom>
          <a:solidFill>
            <a:srgbClr val="071523">
              <a:alpha val="92000"/>
            </a:srgbClr>
          </a:solidFill>
          <a:ln w="12700">
            <a:solidFill>
              <a:srgbClr val="244A6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97280" y="2267712"/>
            <a:ext cx="2743200" cy="1828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2DE2D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Yggdrasil ERP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4160520" y="2267712"/>
            <a:ext cx="2011680" cy="1828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22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$30K + ($10K × Footprint) annual; $35K pilot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6400800" y="2267712"/>
            <a:ext cx="4206240" cy="1828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180" dirty="0">
                <a:solidFill>
                  <a:srgbClr val="A9B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All 10 modules + OPE included; full audit log</a:t>
            </a:r>
            <a:endParaRPr lang="en-US" sz="1800" dirty="0"/>
          </a:p>
        </p:txBody>
      </p:sp>
      <p:sp>
        <p:nvSpPr>
          <p:cNvPr id="17" name="Shape 15"/>
          <p:cNvSpPr/>
          <p:nvPr/>
        </p:nvSpPr>
        <p:spPr>
          <a:xfrm>
            <a:off x="868680" y="2898648"/>
            <a:ext cx="10378440" cy="566928"/>
          </a:xfrm>
          <a:prstGeom prst="roundRect">
            <a:avLst>
              <a:gd name="adj" fmla="val 12903"/>
            </a:avLst>
          </a:prstGeom>
          <a:solidFill>
            <a:srgbClr val="071523">
              <a:alpha val="92000"/>
            </a:srgbClr>
          </a:solidFill>
          <a:ln w="12700">
            <a:solidFill>
              <a:srgbClr val="244A6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097280" y="3054096"/>
            <a:ext cx="2743200" cy="1828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2DE2D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Ragnarok migration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4160520" y="3054096"/>
            <a:ext cx="2011680" cy="1828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22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Project fee; 1:1 activation credit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6400800" y="3054096"/>
            <a:ext cx="4206240" cy="1828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180" dirty="0">
                <a:solidFill>
                  <a:srgbClr val="A9B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Governed legacy → canonical schema migration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868680" y="3685032"/>
            <a:ext cx="10378440" cy="566928"/>
          </a:xfrm>
          <a:prstGeom prst="roundRect">
            <a:avLst>
              <a:gd name="adj" fmla="val 12903"/>
            </a:avLst>
          </a:prstGeom>
          <a:solidFill>
            <a:srgbClr val="071523">
              <a:alpha val="92000"/>
            </a:srgbClr>
          </a:solidFill>
          <a:ln w="12700">
            <a:solidFill>
              <a:srgbClr val="244A65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097280" y="3840480"/>
            <a:ext cx="2743200" cy="1828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2DE2D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Norn pilot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4160520" y="3840480"/>
            <a:ext cx="2011680" cy="1828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22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$299/mo Business tier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6400800" y="3840480"/>
            <a:ext cx="4206240" cy="1828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180" dirty="0">
                <a:solidFill>
                  <a:srgbClr val="A9B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Contract pilot; 5-org cap</a:t>
            </a:r>
            <a:endParaRPr lang="en-US" sz="1800" dirty="0"/>
          </a:p>
        </p:txBody>
      </p:sp>
      <p:sp>
        <p:nvSpPr>
          <p:cNvPr id="25" name="Shape 23"/>
          <p:cNvSpPr/>
          <p:nvPr/>
        </p:nvSpPr>
        <p:spPr>
          <a:xfrm>
            <a:off x="868680" y="4471416"/>
            <a:ext cx="10378440" cy="566928"/>
          </a:xfrm>
          <a:prstGeom prst="roundRect">
            <a:avLst>
              <a:gd name="adj" fmla="val 12903"/>
            </a:avLst>
          </a:prstGeom>
          <a:solidFill>
            <a:srgbClr val="071523">
              <a:alpha val="92000"/>
            </a:srgbClr>
          </a:solidFill>
          <a:ln w="12700">
            <a:solidFill>
              <a:srgbClr val="244A65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097280" y="4626864"/>
            <a:ext cx="2743200" cy="1828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2DE2D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Roadmap</a:t>
            </a:r>
            <a:endParaRPr lang="en-US" sz="1800" dirty="0"/>
          </a:p>
        </p:txBody>
      </p:sp>
      <p:sp>
        <p:nvSpPr>
          <p:cNvPr id="27" name="Text 25"/>
          <p:cNvSpPr/>
          <p:nvPr/>
        </p:nvSpPr>
        <p:spPr>
          <a:xfrm>
            <a:off x="4160520" y="4626864"/>
            <a:ext cx="2011680" cy="1828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22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Future revenue lines</a:t>
            </a:r>
            <a:endParaRPr lang="en-US" sz="1800" dirty="0"/>
          </a:p>
        </p:txBody>
      </p:sp>
      <p:sp>
        <p:nvSpPr>
          <p:cNvPr id="28" name="Text 26"/>
          <p:cNvSpPr/>
          <p:nvPr/>
        </p:nvSpPr>
        <p:spPr>
          <a:xfrm>
            <a:off x="6400800" y="4626864"/>
            <a:ext cx="4206240" cy="1828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180" dirty="0">
                <a:solidFill>
                  <a:srgbClr val="A9B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 channel, OPE-Norn integration, agent SDK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914400" y="5897880"/>
            <a:ext cx="10241280" cy="320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GTM motion: founder-led pilots → SI/referrer channel → strategic platform conversations.</a:t>
            </a:r>
            <a:endParaRPr lang="en-US" sz="1800" dirty="0"/>
          </a:p>
        </p:txBody>
      </p:sp>
      <p:sp>
        <p:nvSpPr>
          <p:cNvPr id="30" name="Text 28"/>
          <p:cNvSpPr/>
          <p:nvPr/>
        </p:nvSpPr>
        <p:spPr>
          <a:xfrm>
            <a:off x="594360" y="6473952"/>
            <a:ext cx="2926080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850" dirty="0">
                <a:solidFill>
                  <a:srgbClr val="6F889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Mimir Labs • Investor Deck</a:t>
            </a:r>
            <a:endParaRPr lang="en-US" sz="850" dirty="0"/>
          </a:p>
        </p:txBody>
      </p:sp>
      <p:sp>
        <p:nvSpPr>
          <p:cNvPr id="31" name="Text 29"/>
          <p:cNvSpPr/>
          <p:nvPr/>
        </p:nvSpPr>
        <p:spPr>
          <a:xfrm>
            <a:off x="11292840" y="6473952"/>
            <a:ext cx="411480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r" indent="0" marL="0">
              <a:buNone/>
            </a:pPr>
            <a:r>
              <a:rPr lang="en-US" sz="850" dirty="0">
                <a:solidFill>
                  <a:srgbClr val="6F889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07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813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131F"/>
          </a:solidFill>
          <a:ln w="12700">
            <a:solidFill>
              <a:srgbClr val="08131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64008" cy="6858000"/>
          </a:xfrm>
          <a:prstGeom prst="rect">
            <a:avLst/>
          </a:prstGeom>
          <a:solidFill>
            <a:srgbClr val="2DE2D1"/>
          </a:solidFill>
          <a:ln w="12700">
            <a:solidFill>
              <a:srgbClr val="2DE2D1">
                <a:alpha val="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94360" y="320040"/>
            <a:ext cx="7132320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F4F8F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GTM phasing: services-led wedge, platform-led expansion</a:t>
            </a:r>
            <a:endParaRPr lang="en-US" sz="2700" dirty="0"/>
          </a:p>
        </p:txBody>
      </p:sp>
      <p:sp>
        <p:nvSpPr>
          <p:cNvPr id="8" name="Text 6"/>
          <p:cNvSpPr/>
          <p:nvPr/>
        </p:nvSpPr>
        <p:spPr>
          <a:xfrm>
            <a:off x="612648" y="877824"/>
            <a:ext cx="7772400" cy="320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250" dirty="0">
                <a:solidFill>
                  <a:srgbClr val="A9B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Each phase builds the customer relationship and proof set the next phase needs. We do not need to win an ERP buyer in month one.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822960" y="1417320"/>
            <a:ext cx="5074920" cy="960120"/>
          </a:xfrm>
          <a:prstGeom prst="roundRect">
            <a:avLst>
              <a:gd name="adj" fmla="val 7619"/>
            </a:avLst>
          </a:prstGeom>
          <a:solidFill>
            <a:srgbClr val="0F2235">
              <a:alpha val="95000"/>
            </a:srgbClr>
          </a:solidFill>
          <a:ln w="12700">
            <a:solidFill>
              <a:srgbClr val="28475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51560" y="1581912"/>
            <a:ext cx="4480560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550" b="1" dirty="0">
                <a:solidFill>
                  <a:srgbClr val="2DE2D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Phase 1 — Wedge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051560" y="1911096"/>
            <a:ext cx="4434840" cy="2560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120" dirty="0">
                <a:solidFill>
                  <a:srgbClr val="A9B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Norn self-serve SaaS (free → $1,499/mo). No IT approval, no sales cycle. Active Q4 2026.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6446520" y="1417320"/>
            <a:ext cx="5074920" cy="960120"/>
          </a:xfrm>
          <a:prstGeom prst="roundRect">
            <a:avLst>
              <a:gd name="adj" fmla="val 7619"/>
            </a:avLst>
          </a:prstGeom>
          <a:solidFill>
            <a:srgbClr val="0F2235">
              <a:alpha val="95000"/>
            </a:srgbClr>
          </a:solidFill>
          <a:ln w="12700">
            <a:solidFill>
              <a:srgbClr val="28475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675120" y="1581912"/>
            <a:ext cx="4480560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550" b="1" dirty="0">
                <a:solidFill>
                  <a:srgbClr val="2DE2D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Phase 2 — Services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6675120" y="1911096"/>
            <a:ext cx="4434840" cy="2560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120" dirty="0">
                <a:solidFill>
                  <a:srgbClr val="A9B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Ratatosk governance workshops, $5–12.5K. Reveals migration needs, builds account intelligence. Q3 2026.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822960" y="2743200"/>
            <a:ext cx="5074920" cy="960120"/>
          </a:xfrm>
          <a:prstGeom prst="roundRect">
            <a:avLst>
              <a:gd name="adj" fmla="val 7619"/>
            </a:avLst>
          </a:prstGeom>
          <a:solidFill>
            <a:srgbClr val="0F2235">
              <a:alpha val="95000"/>
            </a:srgbClr>
          </a:solidFill>
          <a:ln w="12700">
            <a:solidFill>
              <a:srgbClr val="28475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051560" y="2907792"/>
            <a:ext cx="4480560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550" b="1" dirty="0">
                <a:solidFill>
                  <a:srgbClr val="2DE2D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Phase 3 — Platform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051560" y="3236976"/>
            <a:ext cx="4434840" cy="2560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120" dirty="0">
                <a:solidFill>
                  <a:srgbClr val="A9B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Ragnarok migrations + Bifrost integrations. 60% Ratatosk → Ragnarok attach, 25% → Bifrost. Q1 2027.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6446520" y="2743200"/>
            <a:ext cx="5074920" cy="960120"/>
          </a:xfrm>
          <a:prstGeom prst="roundRect">
            <a:avLst>
              <a:gd name="adj" fmla="val 7619"/>
            </a:avLst>
          </a:prstGeom>
          <a:solidFill>
            <a:srgbClr val="0F2235">
              <a:alpha val="95000"/>
            </a:srgbClr>
          </a:solidFill>
          <a:ln w="12700">
            <a:solidFill>
              <a:srgbClr val="28475E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675120" y="2907792"/>
            <a:ext cx="4480560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550" b="1" dirty="0">
                <a:solidFill>
                  <a:srgbClr val="2DE2D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Phase 4 — ERP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6675120" y="3236976"/>
            <a:ext cx="4434840" cy="2560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120" dirty="0">
                <a:solidFill>
                  <a:srgbClr val="A9B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Yggdrasil ERP pilots ($35K) and full subscriptions. Footprint Score pricing. Q3 2027+.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822960" y="4069080"/>
            <a:ext cx="5074920" cy="960120"/>
          </a:xfrm>
          <a:prstGeom prst="roundRect">
            <a:avLst>
              <a:gd name="adj" fmla="val 7619"/>
            </a:avLst>
          </a:prstGeom>
          <a:solidFill>
            <a:srgbClr val="0F2235">
              <a:alpha val="95000"/>
            </a:srgbClr>
          </a:solidFill>
          <a:ln w="12700">
            <a:solidFill>
              <a:srgbClr val="28475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051560" y="4233672"/>
            <a:ext cx="4480560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550" b="1" dirty="0">
                <a:solidFill>
                  <a:srgbClr val="2DE2D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Pre-seed milestones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1051560" y="4562856"/>
            <a:ext cx="4434840" cy="2560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120" dirty="0">
                <a:solidFill>
                  <a:srgbClr val="A9B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3–5 Ratatosk workshops, 2 Yggdrasil pilots, Wave-1 OPE rollout, SOC 2 Type I, first engineering hire.</a:t>
            </a:r>
            <a:endParaRPr lang="en-US" sz="1800" dirty="0"/>
          </a:p>
        </p:txBody>
      </p:sp>
      <p:sp>
        <p:nvSpPr>
          <p:cNvPr id="24" name="Shape 22"/>
          <p:cNvSpPr/>
          <p:nvPr/>
        </p:nvSpPr>
        <p:spPr>
          <a:xfrm>
            <a:off x="6446520" y="4069080"/>
            <a:ext cx="5074920" cy="960120"/>
          </a:xfrm>
          <a:prstGeom prst="roundRect">
            <a:avLst>
              <a:gd name="adj" fmla="val 7619"/>
            </a:avLst>
          </a:prstGeom>
          <a:solidFill>
            <a:srgbClr val="0F2235">
              <a:alpha val="95000"/>
            </a:srgbClr>
          </a:solidFill>
          <a:ln w="12700">
            <a:solidFill>
              <a:srgbClr val="28475E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675120" y="4233672"/>
            <a:ext cx="4480560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550" b="1" dirty="0">
                <a:solidFill>
                  <a:srgbClr val="2DE2D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Series A milestones</a:t>
            </a:r>
            <a:endParaRPr lang="en-US" sz="1800" dirty="0"/>
          </a:p>
        </p:txBody>
      </p:sp>
      <p:sp>
        <p:nvSpPr>
          <p:cNvPr id="26" name="Text 24"/>
          <p:cNvSpPr/>
          <p:nvPr/>
        </p:nvSpPr>
        <p:spPr>
          <a:xfrm>
            <a:off x="6675120" y="4562856"/>
            <a:ext cx="4434840" cy="2560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120" dirty="0">
                <a:solidFill>
                  <a:srgbClr val="A9B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$500K ARR, 100 Norn paid accounts, 10 services engagements, 3 Yggdrasil tenants, Template Exchange live.</a:t>
            </a:r>
            <a:endParaRPr lang="en-US" sz="1800" dirty="0"/>
          </a:p>
        </p:txBody>
      </p:sp>
      <p:sp>
        <p:nvSpPr>
          <p:cNvPr id="27" name="Text 25"/>
          <p:cNvSpPr/>
          <p:nvPr/>
        </p:nvSpPr>
        <p:spPr>
          <a:xfrm>
            <a:off x="914400" y="5788152"/>
            <a:ext cx="10241280" cy="3657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GTM motion: founder-led pilots → SI/referrer channel → strategic platform conversations. No partner channel before product is proven.</a:t>
            </a:r>
            <a:endParaRPr lang="en-US" sz="1800" dirty="0"/>
          </a:p>
        </p:txBody>
      </p:sp>
      <p:sp>
        <p:nvSpPr>
          <p:cNvPr id="28" name="Text 26"/>
          <p:cNvSpPr/>
          <p:nvPr/>
        </p:nvSpPr>
        <p:spPr>
          <a:xfrm>
            <a:off x="594360" y="6473952"/>
            <a:ext cx="2926080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850" dirty="0">
                <a:solidFill>
                  <a:srgbClr val="6F889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Mimir Labs • Investor Deck</a:t>
            </a:r>
            <a:endParaRPr lang="en-US" sz="850" dirty="0"/>
          </a:p>
        </p:txBody>
      </p:sp>
      <p:sp>
        <p:nvSpPr>
          <p:cNvPr id="29" name="Text 27"/>
          <p:cNvSpPr/>
          <p:nvPr/>
        </p:nvSpPr>
        <p:spPr>
          <a:xfrm>
            <a:off x="11292840" y="6473952"/>
            <a:ext cx="411480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r" indent="0" marL="0">
              <a:buNone/>
            </a:pPr>
            <a:r>
              <a:rPr lang="en-US" sz="850" dirty="0">
                <a:solidFill>
                  <a:srgbClr val="6F889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08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813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131F"/>
          </a:solidFill>
          <a:ln w="12700">
            <a:solidFill>
              <a:srgbClr val="08131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64008" cy="6858000"/>
          </a:xfrm>
          <a:prstGeom prst="rect">
            <a:avLst/>
          </a:prstGeom>
          <a:solidFill>
            <a:srgbClr val="2DE2D1"/>
          </a:solidFill>
          <a:ln w="12700">
            <a:solidFill>
              <a:srgbClr val="2DE2D1">
                <a:alpha val="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94360" y="320040"/>
            <a:ext cx="7132320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F4F8F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Differentiation: not another layer above the mess</a:t>
            </a:r>
            <a:endParaRPr lang="en-US" sz="2700" dirty="0"/>
          </a:p>
        </p:txBody>
      </p:sp>
      <p:sp>
        <p:nvSpPr>
          <p:cNvPr id="8" name="Text 6"/>
          <p:cNvSpPr/>
          <p:nvPr/>
        </p:nvSpPr>
        <p:spPr>
          <a:xfrm>
            <a:off x="612648" y="877824"/>
            <a:ext cx="7772400" cy="320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250" dirty="0">
                <a:solidFill>
                  <a:srgbClr val="A9B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Most adjacent tools observe, move, or interpret data. Mimir Labs governs what can become operational truth.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777240" y="1325880"/>
            <a:ext cx="2286000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280" b="1" dirty="0">
                <a:solidFill>
                  <a:srgbClr val="2DE2D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MDM / governance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3337560" y="1325880"/>
            <a:ext cx="3383280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160" dirty="0">
                <a:solidFill>
                  <a:srgbClr val="A9B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Manages definitions and stewardship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7040880" y="1325880"/>
            <a:ext cx="4297680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16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Often stops before runtime action authority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731520" y="1719072"/>
            <a:ext cx="10607040" cy="0"/>
          </a:xfrm>
          <a:prstGeom prst="line">
            <a:avLst/>
          </a:prstGeom>
          <a:noFill/>
          <a:ln w="7620">
            <a:solidFill>
              <a:srgbClr val="16344A"/>
            </a:solidFill>
            <a:prstDash val="solid"/>
            <a:headEnd type="none"/>
            <a:tailEnd type="none"/>
          </a:ln>
        </p:spPr>
      </p:sp>
      <p:sp>
        <p:nvSpPr>
          <p:cNvPr id="13" name="Text 11"/>
          <p:cNvSpPr/>
          <p:nvPr/>
        </p:nvSpPr>
        <p:spPr>
          <a:xfrm>
            <a:off x="777240" y="2130552"/>
            <a:ext cx="2286000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280" b="1" dirty="0">
                <a:solidFill>
                  <a:srgbClr val="2DE2D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iPaaS / data fabric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3337560" y="2130552"/>
            <a:ext cx="3383280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160" dirty="0">
                <a:solidFill>
                  <a:srgbClr val="A9B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Moves and reconciles data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7040880" y="2130552"/>
            <a:ext cx="4297680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16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Translation is not agreement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731520" y="2523744"/>
            <a:ext cx="10607040" cy="0"/>
          </a:xfrm>
          <a:prstGeom prst="line">
            <a:avLst/>
          </a:prstGeom>
          <a:noFill/>
          <a:ln w="7620">
            <a:solidFill>
              <a:srgbClr val="16344A"/>
            </a:solidFill>
            <a:prstDash val="solid"/>
            <a:headEnd type="none"/>
            <a:tailEnd type="none"/>
          </a:ln>
        </p:spPr>
      </p:sp>
      <p:sp>
        <p:nvSpPr>
          <p:cNvPr id="17" name="Text 15"/>
          <p:cNvSpPr/>
          <p:nvPr/>
        </p:nvSpPr>
        <p:spPr>
          <a:xfrm>
            <a:off x="777240" y="2935224"/>
            <a:ext cx="2286000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280" b="1" dirty="0">
                <a:solidFill>
                  <a:srgbClr val="2DE2D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Knowledge graphs / semantic layers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3337560" y="2935224"/>
            <a:ext cx="3383280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160" dirty="0">
                <a:solidFill>
                  <a:srgbClr val="A9B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Models relationships and meaning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7040880" y="2935224"/>
            <a:ext cx="4297680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16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Usually downstream of operational ambiguity</a:t>
            </a:r>
            <a:endParaRPr lang="en-US" sz="1800" dirty="0"/>
          </a:p>
        </p:txBody>
      </p:sp>
      <p:sp>
        <p:nvSpPr>
          <p:cNvPr id="20" name="Shape 18"/>
          <p:cNvSpPr/>
          <p:nvPr/>
        </p:nvSpPr>
        <p:spPr>
          <a:xfrm>
            <a:off x="731520" y="3328416"/>
            <a:ext cx="10607040" cy="0"/>
          </a:xfrm>
          <a:prstGeom prst="line">
            <a:avLst/>
          </a:prstGeom>
          <a:noFill/>
          <a:ln w="7620">
            <a:solidFill>
              <a:srgbClr val="16344A"/>
            </a:solidFill>
            <a:prstDash val="solid"/>
            <a:headEnd type="none"/>
            <a:tailEnd type="none"/>
          </a:ln>
        </p:spPr>
      </p:sp>
      <p:sp>
        <p:nvSpPr>
          <p:cNvPr id="21" name="Text 19"/>
          <p:cNvSpPr/>
          <p:nvPr/>
        </p:nvSpPr>
        <p:spPr>
          <a:xfrm>
            <a:off x="777240" y="3739896"/>
            <a:ext cx="2286000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280" b="1" dirty="0">
                <a:solidFill>
                  <a:srgbClr val="2DE2D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AI copilots / agents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3337560" y="3739896"/>
            <a:ext cx="3383280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160" dirty="0">
                <a:solidFill>
                  <a:srgbClr val="A9B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Retrieve and act through tools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7040880" y="3739896"/>
            <a:ext cx="4297680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16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Context is not authority</a:t>
            </a:r>
            <a:endParaRPr lang="en-US" sz="1800" dirty="0"/>
          </a:p>
        </p:txBody>
      </p:sp>
      <p:sp>
        <p:nvSpPr>
          <p:cNvPr id="24" name="Shape 22"/>
          <p:cNvSpPr/>
          <p:nvPr/>
        </p:nvSpPr>
        <p:spPr>
          <a:xfrm>
            <a:off x="731520" y="4133088"/>
            <a:ext cx="10607040" cy="0"/>
          </a:xfrm>
          <a:prstGeom prst="line">
            <a:avLst/>
          </a:prstGeom>
          <a:noFill/>
          <a:ln w="7620">
            <a:solidFill>
              <a:srgbClr val="16344A"/>
            </a:solidFill>
            <a:prstDash val="solid"/>
            <a:headEnd type="none"/>
            <a:tailEnd type="none"/>
          </a:ln>
        </p:spPr>
      </p:sp>
      <p:sp>
        <p:nvSpPr>
          <p:cNvPr id="25" name="Text 23"/>
          <p:cNvSpPr/>
          <p:nvPr/>
        </p:nvSpPr>
        <p:spPr>
          <a:xfrm>
            <a:off x="777240" y="4544568"/>
            <a:ext cx="2286000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280" b="1" dirty="0">
                <a:solidFill>
                  <a:srgbClr val="2DE2D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Traditional ERP</a:t>
            </a:r>
            <a:endParaRPr lang="en-US" sz="1800" dirty="0"/>
          </a:p>
        </p:txBody>
      </p:sp>
      <p:sp>
        <p:nvSpPr>
          <p:cNvPr id="26" name="Text 24"/>
          <p:cNvSpPr/>
          <p:nvPr/>
        </p:nvSpPr>
        <p:spPr>
          <a:xfrm>
            <a:off x="3337560" y="4544568"/>
            <a:ext cx="3383280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160" dirty="0">
                <a:solidFill>
                  <a:srgbClr val="A9B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Records transactions and configurations</a:t>
            </a:r>
            <a:endParaRPr lang="en-US" sz="1800" dirty="0"/>
          </a:p>
        </p:txBody>
      </p:sp>
      <p:sp>
        <p:nvSpPr>
          <p:cNvPr id="27" name="Text 25"/>
          <p:cNvSpPr/>
          <p:nvPr/>
        </p:nvSpPr>
        <p:spPr>
          <a:xfrm>
            <a:off x="7040880" y="4544568"/>
            <a:ext cx="4297680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16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Business rules often live around the substrate</a:t>
            </a:r>
            <a:endParaRPr lang="en-US" sz="1800" dirty="0"/>
          </a:p>
        </p:txBody>
      </p:sp>
      <p:sp>
        <p:nvSpPr>
          <p:cNvPr id="28" name="Shape 26"/>
          <p:cNvSpPr/>
          <p:nvPr/>
        </p:nvSpPr>
        <p:spPr>
          <a:xfrm>
            <a:off x="731520" y="4937760"/>
            <a:ext cx="10607040" cy="0"/>
          </a:xfrm>
          <a:prstGeom prst="line">
            <a:avLst/>
          </a:prstGeom>
          <a:noFill/>
          <a:ln w="7620">
            <a:solidFill>
              <a:srgbClr val="16344A"/>
            </a:solidFill>
            <a:prstDash val="solid"/>
            <a:headEnd type="none"/>
            <a:tailEnd type="none"/>
          </a:ln>
        </p:spPr>
      </p:sp>
      <p:sp>
        <p:nvSpPr>
          <p:cNvPr id="29" name="Shape 27"/>
          <p:cNvSpPr/>
          <p:nvPr/>
        </p:nvSpPr>
        <p:spPr>
          <a:xfrm>
            <a:off x="1097280" y="5623560"/>
            <a:ext cx="9966960" cy="502920"/>
          </a:xfrm>
          <a:prstGeom prst="roundRect">
            <a:avLst>
              <a:gd name="adj" fmla="val 14545"/>
            </a:avLst>
          </a:prstGeom>
          <a:solidFill>
            <a:srgbClr val="0F2235">
              <a:alpha val="95000"/>
            </a:srgbClr>
          </a:solidFill>
          <a:ln w="12700">
            <a:solidFill>
              <a:srgbClr val="F6C65B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371600" y="5788152"/>
            <a:ext cx="9418320" cy="1828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F6C65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Moat: canonical manifests + deterministic enforcement + audit replay + operational state-machine authority.</a:t>
            </a:r>
            <a:endParaRPr lang="en-US" sz="1800" dirty="0"/>
          </a:p>
        </p:txBody>
      </p:sp>
      <p:sp>
        <p:nvSpPr>
          <p:cNvPr id="31" name="Text 29"/>
          <p:cNvSpPr/>
          <p:nvPr/>
        </p:nvSpPr>
        <p:spPr>
          <a:xfrm>
            <a:off x="594360" y="6473952"/>
            <a:ext cx="2926080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850" dirty="0">
                <a:solidFill>
                  <a:srgbClr val="6F889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Mimir Labs • Investor Deck</a:t>
            </a:r>
            <a:endParaRPr lang="en-US" sz="850" dirty="0"/>
          </a:p>
        </p:txBody>
      </p:sp>
      <p:sp>
        <p:nvSpPr>
          <p:cNvPr id="32" name="Text 30"/>
          <p:cNvSpPr/>
          <p:nvPr/>
        </p:nvSpPr>
        <p:spPr>
          <a:xfrm>
            <a:off x="11292840" y="6473952"/>
            <a:ext cx="411480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r" indent="0" marL="0">
              <a:buNone/>
            </a:pPr>
            <a:r>
              <a:rPr lang="en-US" sz="850" dirty="0">
                <a:solidFill>
                  <a:srgbClr val="6F889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09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813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131F"/>
          </a:solidFill>
          <a:ln w="12700">
            <a:solidFill>
              <a:srgbClr val="08131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64008" cy="6858000"/>
          </a:xfrm>
          <a:prstGeom prst="rect">
            <a:avLst/>
          </a:prstGeom>
          <a:solidFill>
            <a:srgbClr val="2DE2D1"/>
          </a:solidFill>
          <a:ln w="12700">
            <a:solidFill>
              <a:srgbClr val="2DE2D1">
                <a:alpha val="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94360" y="320040"/>
            <a:ext cx="7132320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F4F8F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Current proof points and near-term milestones</a:t>
            </a:r>
            <a:endParaRPr lang="en-US" sz="2700" dirty="0"/>
          </a:p>
        </p:txBody>
      </p:sp>
      <p:sp>
        <p:nvSpPr>
          <p:cNvPr id="8" name="Text 6"/>
          <p:cNvSpPr/>
          <p:nvPr/>
        </p:nvSpPr>
        <p:spPr>
          <a:xfrm>
            <a:off x="612648" y="877824"/>
            <a:ext cx="7772400" cy="320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250" dirty="0">
                <a:solidFill>
                  <a:srgbClr val="A9B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platform has moved from thesis to architecture to sellable wedge.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822960" y="1417320"/>
            <a:ext cx="10607040" cy="512064"/>
          </a:xfrm>
          <a:prstGeom prst="roundRect">
            <a:avLst>
              <a:gd name="adj" fmla="val 14286"/>
            </a:avLst>
          </a:prstGeom>
          <a:solidFill>
            <a:srgbClr val="06111C">
              <a:alpha val="93000"/>
            </a:srgbClr>
          </a:solidFill>
          <a:ln w="12700">
            <a:solidFill>
              <a:srgbClr val="244A6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51560" y="1563624"/>
            <a:ext cx="1097280" cy="1645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180" b="1" dirty="0">
                <a:solidFill>
                  <a:srgbClr val="F6C65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Built and shipping (alpha)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2286000" y="1554480"/>
            <a:ext cx="8686800" cy="1828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22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Six-tool suite: Yggdrasil ERP (323 tables, 10 modules, Qt + Next.js, 150+ endpoints, OPE governance), Ratatosk, Ragnarok, Bifrost, Jormungandr, Norn. Mimisbrunnr semantic model unifies all six.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822960" y="2148840"/>
            <a:ext cx="10607040" cy="512064"/>
          </a:xfrm>
          <a:prstGeom prst="roundRect">
            <a:avLst>
              <a:gd name="adj" fmla="val 14286"/>
            </a:avLst>
          </a:prstGeom>
          <a:solidFill>
            <a:srgbClr val="06111C">
              <a:alpha val="93000"/>
            </a:srgbClr>
          </a:solidFill>
          <a:ln w="12700">
            <a:solidFill>
              <a:srgbClr val="244A65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051560" y="2295144"/>
            <a:ext cx="1097280" cy="1645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180" b="1" dirty="0">
                <a:solidFill>
                  <a:srgbClr val="F6C65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OPE shipped May 2026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2286000" y="2286000"/>
            <a:ext cx="8686800" cy="1828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22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9,500+ line commit: Policy lifecycle, Named Conditions, Phases, multi-action, extension capture, ~40 routes, 8 Standard Library templates.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822960" y="2880360"/>
            <a:ext cx="10607040" cy="512064"/>
          </a:xfrm>
          <a:prstGeom prst="roundRect">
            <a:avLst>
              <a:gd name="adj" fmla="val 14286"/>
            </a:avLst>
          </a:prstGeom>
          <a:solidFill>
            <a:srgbClr val="06111C">
              <a:alpha val="93000"/>
            </a:srgbClr>
          </a:solidFill>
          <a:ln w="12700">
            <a:solidFill>
              <a:srgbClr val="244A6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051560" y="3026664"/>
            <a:ext cx="1097280" cy="1645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180" b="1" dirty="0">
                <a:solidFill>
                  <a:srgbClr val="F6C65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Multi-tenant infrastructure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2286000" y="3017520"/>
            <a:ext cx="8686800" cy="1828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22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Live VPS: RedPanda event mesh, Cloudflare Tunnel ingress, Caddy proxy, Go mesh-server. CMMC Level 1 attestation complete.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822960" y="3611880"/>
            <a:ext cx="10607040" cy="512064"/>
          </a:xfrm>
          <a:prstGeom prst="roundRect">
            <a:avLst>
              <a:gd name="adj" fmla="val 14286"/>
            </a:avLst>
          </a:prstGeom>
          <a:solidFill>
            <a:srgbClr val="06111C">
              <a:alpha val="93000"/>
            </a:srgbClr>
          </a:solidFill>
          <a:ln w="12700">
            <a:solidFill>
              <a:srgbClr val="244A65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051560" y="3758184"/>
            <a:ext cx="1097280" cy="1645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180" b="1" dirty="0">
                <a:solidFill>
                  <a:srgbClr val="F6C65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Validated externally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2286000" y="3749040"/>
            <a:ext cx="8686800" cy="1828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22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Diginomica's Jon Reed publicly endorsed indie AI-native enterprise builders (Chris named) on Raven Intelligence cast, May 2026. Crunchbase top 100k. CAIP-HE alignment documented.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822960" y="4343400"/>
            <a:ext cx="10607040" cy="512064"/>
          </a:xfrm>
          <a:prstGeom prst="roundRect">
            <a:avLst>
              <a:gd name="adj" fmla="val 14286"/>
            </a:avLst>
          </a:prstGeom>
          <a:solidFill>
            <a:srgbClr val="06111C">
              <a:alpha val="93000"/>
            </a:srgbClr>
          </a:solidFill>
          <a:ln w="12700">
            <a:solidFill>
              <a:srgbClr val="244A65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051560" y="4489704"/>
            <a:ext cx="1097280" cy="1645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180" b="1" dirty="0">
                <a:solidFill>
                  <a:srgbClr val="F6C65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 market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2286000" y="4480560"/>
            <a:ext cx="8686800" cy="1828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22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Yggdrasil Validation Cohort waitlist live — $15K reservation deposit, 1:1 credit against activation. Selecting for fit; not auto-onboarding.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914400" y="5715000"/>
            <a:ext cx="10241280" cy="3931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Next milestone: 2–3 paid Ratatosk workshops, first Yggdrasil pilot conversion, SOC 2 Type I readiness, first engineering hire.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594360" y="6473952"/>
            <a:ext cx="2926080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850" dirty="0">
                <a:solidFill>
                  <a:srgbClr val="6F889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Mimir Labs • Investor Deck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11292840" y="6473952"/>
            <a:ext cx="411480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r" indent="0" marL="0">
              <a:buNone/>
            </a:pPr>
            <a:r>
              <a:rPr lang="en-US" sz="850" dirty="0">
                <a:solidFill>
                  <a:srgbClr val="6F889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10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813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131F"/>
          </a:solidFill>
          <a:ln w="12700">
            <a:solidFill>
              <a:srgbClr val="08131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64008" cy="6858000"/>
          </a:xfrm>
          <a:prstGeom prst="rect">
            <a:avLst/>
          </a:prstGeom>
          <a:solidFill>
            <a:srgbClr val="2DE2D1"/>
          </a:solidFill>
          <a:ln w="12700">
            <a:solidFill>
              <a:srgbClr val="2DE2D1">
                <a:alpha val="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94360" y="320040"/>
            <a:ext cx="7132320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F4F8F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Team: solo founder today, AI-augmented build, lean hire plan</a:t>
            </a:r>
            <a:endParaRPr lang="en-US" sz="2700" dirty="0"/>
          </a:p>
        </p:txBody>
      </p:sp>
      <p:sp>
        <p:nvSpPr>
          <p:cNvPr id="8" name="Text 6"/>
          <p:cNvSpPr/>
          <p:nvPr/>
        </p:nvSpPr>
        <p:spPr>
          <a:xfrm>
            <a:off x="612648" y="877824"/>
            <a:ext cx="7772400" cy="320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250" dirty="0">
                <a:solidFill>
                  <a:srgbClr val="A9B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Mimir Labs is one person and a deliberate development model. The platform exists because the founder lived inside the failures the doctrine refuses.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777240" y="1325880"/>
            <a:ext cx="4754880" cy="4480560"/>
          </a:xfrm>
          <a:prstGeom prst="roundRect">
            <a:avLst>
              <a:gd name="adj" fmla="val 1633"/>
            </a:avLst>
          </a:prstGeom>
          <a:solidFill>
            <a:srgbClr val="071523">
              <a:alpha val="94000"/>
            </a:srgbClr>
          </a:solidFill>
          <a:ln w="12700">
            <a:solidFill>
              <a:srgbClr val="2DE2D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05840" y="1591056"/>
            <a:ext cx="4114800" cy="274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DE2D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Christopher "Doc" Gaither, Founder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024128" y="2057400"/>
            <a:ext cx="3886200" cy="20574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15 years in manufacturing operations — shop floor, planning, fighting legacy ERPs
</a:t>
            </a:r>
            <a:pPr indent="0" marL="0">
              <a:buNone/>
            </a:pPr>
            <a:r>
              <a:rPr lang="en-US" sz="140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United States Marine — disciplined process, mission-first
</a:t>
            </a:r>
            <a:pPr indent="0" marL="0">
              <a:buNone/>
            </a:pPr>
            <a:r>
              <a:rPr lang="en-US" sz="140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Mechanical engineer — systems thinking, tolerance reasoning
</a:t>
            </a:r>
            <a:pPr indent="0" marL="0">
              <a:buNone/>
            </a:pPr>
            <a:r>
              <a:rPr lang="en-US" sz="140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Solo C++ / Qt / TypeScript builder; AI-augmented velocity
</a:t>
            </a:r>
            <a:pPr indent="0" marL="0">
              <a:buNone/>
            </a:pPr>
            <a:r>
              <a:rPr lang="en-US" sz="140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Located in South Central Pennsylvania; available to operators in person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6446520" y="1325880"/>
            <a:ext cx="4754880" cy="4480560"/>
          </a:xfrm>
          <a:prstGeom prst="roundRect">
            <a:avLst>
              <a:gd name="adj" fmla="val 1633"/>
            </a:avLst>
          </a:prstGeom>
          <a:solidFill>
            <a:srgbClr val="071523">
              <a:alpha val="94000"/>
            </a:srgbClr>
          </a:solidFill>
          <a:ln w="12700">
            <a:solidFill>
              <a:srgbClr val="F6C65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675120" y="1591056"/>
            <a:ext cx="4114800" cy="274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6C65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Hiring plan (post-funding)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6693408" y="2057400"/>
            <a:ext cx="3886200" cy="18745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Q3 2026: Sr. Backend Engineer (Bifrost CDC, Mimisbrunnr schema)
</a:t>
            </a:r>
            <a:pPr indent="0" marL="0">
              <a:buNone/>
            </a:pPr>
            <a:r>
              <a:rPr lang="en-US" sz="140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Q4 2026: Sr. Frontend Engineer (Norn web, self-serve onboarding)
</a:t>
            </a:r>
            <a:pPr indent="0" marL="0">
              <a:buNone/>
            </a:pPr>
            <a:r>
              <a:rPr lang="en-US" sz="140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Q1–Q2 2027: Sales / BD Lead + Customer Success
</a:t>
            </a:r>
            <a:pPr indent="0" marL="0">
              <a:buNone/>
            </a:pPr>
            <a:r>
              <a:rPr lang="en-US" sz="140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Year 3 target: 7 FTE; Year 5 target: 22 FTE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1097280" y="6007608"/>
            <a:ext cx="9921240" cy="29260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ctr" indent="0" marL="0">
              <a:buNone/>
            </a:pPr>
            <a:r>
              <a:rPr lang="en-US" sz="1550" dirty="0">
                <a:solidFill>
                  <a:srgbClr val="A9B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architecture, the doctrine, the manifests, the code — all real and reviewable. Bus-factor risk is named and addressed by the first hire, not deflected.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594360" y="6473952"/>
            <a:ext cx="2926080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850" dirty="0">
                <a:solidFill>
                  <a:srgbClr val="6F889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Mimir Labs • Investor Deck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11292840" y="6473952"/>
            <a:ext cx="411480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r" indent="0" marL="0">
              <a:buNone/>
            </a:pPr>
            <a:r>
              <a:rPr lang="en-US" sz="850" dirty="0">
                <a:solidFill>
                  <a:srgbClr val="6F889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11</a:t>
            </a:r>
            <a:endParaRPr lang="en-US" sz="8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813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131F"/>
          </a:solidFill>
          <a:ln w="12700">
            <a:solidFill>
              <a:srgbClr val="08131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64008" cy="6858000"/>
          </a:xfrm>
          <a:prstGeom prst="rect">
            <a:avLst/>
          </a:prstGeom>
          <a:solidFill>
            <a:srgbClr val="2DE2D1"/>
          </a:solidFill>
          <a:ln w="12700">
            <a:solidFill>
              <a:srgbClr val="2DE2D1">
                <a:alpha val="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94360" y="320040"/>
            <a:ext cx="7132320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F4F8F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5-year projections: $241K → $17.6M, cash-flow positive Year 2</a:t>
            </a:r>
            <a:endParaRPr lang="en-US" sz="2700" dirty="0"/>
          </a:p>
        </p:txBody>
      </p:sp>
      <p:sp>
        <p:nvSpPr>
          <p:cNvPr id="8" name="Text 6"/>
          <p:cNvSpPr/>
          <p:nvPr/>
        </p:nvSpPr>
        <p:spPr>
          <a:xfrm>
            <a:off x="612648" y="877824"/>
            <a:ext cx="7772400" cy="320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250" dirty="0">
                <a:solidFill>
                  <a:srgbClr val="A9B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Five revenue lines (Norn SaaS / Ratatosk / Ragnarok / Bifrost / Yggdrasil) with services-led ramp and SaaS-dominant mix by Year 5.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914400" y="5715000"/>
            <a:ext cx="10241280" cy="3931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Implied Year-5 valuation: $50–90M on 5–8x ARR multiple. Series A target: Q4 2027 at $500K ARR + 3 Yggdrasil tenants.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594360" y="6473952"/>
            <a:ext cx="2926080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850" dirty="0">
                <a:solidFill>
                  <a:srgbClr val="6F889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Mimir Labs • Investor Deck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11292840" y="6473952"/>
            <a:ext cx="411480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r" indent="0" marL="0">
              <a:buNone/>
            </a:pPr>
            <a:r>
              <a:rPr lang="en-US" sz="850" dirty="0">
                <a:solidFill>
                  <a:srgbClr val="6F889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12</a:t>
            </a:r>
            <a:endParaRPr lang="en-US" sz="850" dirty="0"/>
          </a:p>
        </p:txBody>
      </p:sp>
      <p:sp>
        <p:nvSpPr>
          <p:cNvPr id="100" name="ChartXAxis"/>
          <p:cNvSpPr/>
          <p:nvPr/>
        </p:nvSpPr>
        <p:spPr>
          <a:xfrm>
            <a:off x="1371600" y="4846320"/>
            <a:ext cx="10058400" cy="0"/>
          </a:xfrm>
          <a:prstGeom prst="line">
            <a:avLst/>
          </a:prstGeom>
          <a:ln w="12700">
            <a:solidFill>
              <a:srgbClr val="6F889D"/>
            </a:solidFill>
            <a:prstDash val="solid"/>
          </a:ln>
        </p:spPr>
      </p:sp>
      <p:sp>
        <p:nvSpPr>
          <p:cNvPr id="101" name="ChartYAxis"/>
          <p:cNvSpPr/>
          <p:nvPr/>
        </p:nvSpPr>
        <p:spPr>
          <a:xfrm>
            <a:off x="1371600" y="1874520"/>
            <a:ext cx="0" cy="2971800"/>
          </a:xfrm>
          <a:prstGeom prst="line">
            <a:avLst/>
          </a:prstGeom>
          <a:ln w="12700">
            <a:solidFill>
              <a:srgbClr val="6F889D"/>
            </a:solidFill>
            <a:prstDash val="solid"/>
          </a:ln>
        </p:spPr>
      </p:sp>
      <p:sp>
        <p:nvSpPr>
          <p:cNvPr id="102" name="Grid5M"/>
          <p:cNvSpPr/>
          <p:nvPr/>
        </p:nvSpPr>
        <p:spPr>
          <a:xfrm>
            <a:off x="1371600" y="4103370"/>
            <a:ext cx="10058400" cy="0"/>
          </a:xfrm>
          <a:prstGeom prst="line">
            <a:avLst/>
          </a:prstGeom>
          <a:ln w="6350">
            <a:solidFill>
              <a:srgbClr val="244A65"/>
            </a:solidFill>
            <a:prstDash val="solid"/>
          </a:ln>
        </p:spPr>
      </p:sp>
      <p:sp>
        <p:nvSpPr>
          <p:cNvPr id="103" name="YLabel5"/>
          <p:cNvSpPr/>
          <p:nvPr/>
        </p:nvSpPr>
        <p:spPr>
          <a:xfrm>
            <a:off x="594360" y="3984498"/>
            <a:ext cx="685800" cy="237744"/>
          </a:xfrm>
          <a:prstGeom prst="rect">
            <a:avLst/>
          </a:prstGeom>
          <a:noFill/>
          <a:ln/>
        </p:spPr>
        <p:txBody>
          <a:bodyPr wrap="square" lIns="36576" tIns="36576" rIns="36576" bIns="36576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6F889D"/>
                </a:solidFill>
                <a:latin typeface="Aptos" pitchFamily="34" charset="0"/>
              </a:rPr>
              <a:t>$5M</a:t>
            </a:r>
          </a:p>
        </p:txBody>
      </p:sp>
      <p:sp>
        <p:nvSpPr>
          <p:cNvPr id="104" name="Grid10M"/>
          <p:cNvSpPr/>
          <p:nvPr/>
        </p:nvSpPr>
        <p:spPr>
          <a:xfrm>
            <a:off x="1371600" y="3360420"/>
            <a:ext cx="10058400" cy="0"/>
          </a:xfrm>
          <a:prstGeom prst="line">
            <a:avLst/>
          </a:prstGeom>
          <a:ln w="6350">
            <a:solidFill>
              <a:srgbClr val="244A65"/>
            </a:solidFill>
            <a:prstDash val="solid"/>
          </a:ln>
        </p:spPr>
      </p:sp>
      <p:sp>
        <p:nvSpPr>
          <p:cNvPr id="105" name="YLabel10"/>
          <p:cNvSpPr/>
          <p:nvPr/>
        </p:nvSpPr>
        <p:spPr>
          <a:xfrm>
            <a:off x="594360" y="3241548"/>
            <a:ext cx="685800" cy="237744"/>
          </a:xfrm>
          <a:prstGeom prst="rect">
            <a:avLst/>
          </a:prstGeom>
          <a:noFill/>
          <a:ln/>
        </p:spPr>
        <p:txBody>
          <a:bodyPr wrap="square" lIns="36576" tIns="36576" rIns="36576" bIns="36576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6F889D"/>
                </a:solidFill>
                <a:latin typeface="Aptos" pitchFamily="34" charset="0"/>
              </a:rPr>
              <a:t>$10M</a:t>
            </a:r>
          </a:p>
        </p:txBody>
      </p:sp>
      <p:sp>
        <p:nvSpPr>
          <p:cNvPr id="106" name="Grid15M"/>
          <p:cNvSpPr/>
          <p:nvPr/>
        </p:nvSpPr>
        <p:spPr>
          <a:xfrm>
            <a:off x="1371600" y="2617470"/>
            <a:ext cx="10058400" cy="0"/>
          </a:xfrm>
          <a:prstGeom prst="line">
            <a:avLst/>
          </a:prstGeom>
          <a:ln w="6350">
            <a:solidFill>
              <a:srgbClr val="244A65"/>
            </a:solidFill>
            <a:prstDash val="solid"/>
          </a:ln>
        </p:spPr>
      </p:sp>
      <p:sp>
        <p:nvSpPr>
          <p:cNvPr id="107" name="YLabel15"/>
          <p:cNvSpPr/>
          <p:nvPr/>
        </p:nvSpPr>
        <p:spPr>
          <a:xfrm>
            <a:off x="594360" y="2498598"/>
            <a:ext cx="685800" cy="237744"/>
          </a:xfrm>
          <a:prstGeom prst="rect">
            <a:avLst/>
          </a:prstGeom>
          <a:noFill/>
          <a:ln/>
        </p:spPr>
        <p:txBody>
          <a:bodyPr wrap="square" lIns="36576" tIns="36576" rIns="36576" bIns="36576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6F889D"/>
                </a:solidFill>
                <a:latin typeface="Aptos" pitchFamily="34" charset="0"/>
              </a:rPr>
              <a:t>$15M</a:t>
            </a:r>
          </a:p>
        </p:txBody>
      </p:sp>
      <p:sp>
        <p:nvSpPr>
          <p:cNvPr id="108" name="YLabel0"/>
          <p:cNvSpPr/>
          <p:nvPr/>
        </p:nvSpPr>
        <p:spPr>
          <a:xfrm>
            <a:off x="594360" y="4727448"/>
            <a:ext cx="685800" cy="237744"/>
          </a:xfrm>
          <a:prstGeom prst="rect">
            <a:avLst/>
          </a:prstGeom>
          <a:noFill/>
          <a:ln/>
        </p:spPr>
        <p:txBody>
          <a:bodyPr wrap="square" lIns="36576" tIns="36576" rIns="36576" bIns="36576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6F889D"/>
                </a:solidFill>
                <a:latin typeface="Aptos" pitchFamily="34" charset="0"/>
              </a:rPr>
              <a:t>$0</a:t>
            </a:r>
          </a:p>
        </p:txBody>
      </p:sp>
      <p:sp>
        <p:nvSpPr>
          <p:cNvPr id="109" name="RevSeg1"/>
          <p:cNvSpPr/>
          <p:nvPr/>
        </p:nvSpPr>
        <p:spPr>
          <a:xfrm flipV="1">
            <a:off x="1371600" y="4676927"/>
            <a:ext cx="2514600" cy="133582"/>
          </a:xfrm>
          <a:prstGeom prst="line">
            <a:avLst/>
          </a:prstGeom>
          <a:ln w="38100">
            <a:solidFill>
              <a:srgbClr val="2DE2D1"/>
            </a:solidFill>
            <a:prstDash val="solid"/>
          </a:ln>
        </p:spPr>
      </p:sp>
      <p:sp>
        <p:nvSpPr>
          <p:cNvPr id="110" name="RevSeg2"/>
          <p:cNvSpPr/>
          <p:nvPr/>
        </p:nvSpPr>
        <p:spPr>
          <a:xfrm flipV="1">
            <a:off x="3886200" y="4308424"/>
            <a:ext cx="2514600" cy="368503"/>
          </a:xfrm>
          <a:prstGeom prst="line">
            <a:avLst/>
          </a:prstGeom>
          <a:ln w="38100">
            <a:solidFill>
              <a:srgbClr val="2DE2D1"/>
            </a:solidFill>
            <a:prstDash val="solid"/>
          </a:ln>
        </p:spPr>
      </p:sp>
      <p:sp>
        <p:nvSpPr>
          <p:cNvPr id="111" name="RevSeg3"/>
          <p:cNvSpPr/>
          <p:nvPr/>
        </p:nvSpPr>
        <p:spPr>
          <a:xfrm flipV="1">
            <a:off x="6400800" y="3558045"/>
            <a:ext cx="2514600" cy="750380"/>
          </a:xfrm>
          <a:prstGeom prst="line">
            <a:avLst/>
          </a:prstGeom>
          <a:ln w="38100">
            <a:solidFill>
              <a:srgbClr val="2DE2D1"/>
            </a:solidFill>
            <a:prstDash val="solid"/>
          </a:ln>
        </p:spPr>
      </p:sp>
      <p:sp>
        <p:nvSpPr>
          <p:cNvPr id="112" name="RevSeg4"/>
          <p:cNvSpPr/>
          <p:nvPr/>
        </p:nvSpPr>
        <p:spPr>
          <a:xfrm flipV="1">
            <a:off x="8915400" y="2231136"/>
            <a:ext cx="2514600" cy="1326909"/>
          </a:xfrm>
          <a:prstGeom prst="line">
            <a:avLst/>
          </a:prstGeom>
          <a:ln w="38100">
            <a:solidFill>
              <a:srgbClr val="2DE2D1"/>
            </a:solidFill>
            <a:prstDash val="solid"/>
          </a:ln>
        </p:spPr>
      </p:sp>
      <p:sp>
        <p:nvSpPr>
          <p:cNvPr id="113" name="Marker1"/>
          <p:cNvSpPr/>
          <p:nvPr/>
        </p:nvSpPr>
        <p:spPr>
          <a:xfrm>
            <a:off x="1252728" y="4691638"/>
            <a:ext cx="237744" cy="237744"/>
          </a:xfrm>
          <a:prstGeom prst="ellipse">
            <a:avLst/>
          </a:prstGeom>
          <a:solidFill>
            <a:srgbClr val="2DE2D1"/>
          </a:solidFill>
          <a:ln w="6350">
            <a:solidFill>
              <a:srgbClr val="08131F"/>
            </a:solidFill>
          </a:ln>
        </p:spPr>
      </p:sp>
      <p:sp>
        <p:nvSpPr>
          <p:cNvPr id="114" name="Marker2"/>
          <p:cNvSpPr/>
          <p:nvPr/>
        </p:nvSpPr>
        <p:spPr>
          <a:xfrm>
            <a:off x="3767328" y="4558055"/>
            <a:ext cx="237744" cy="237744"/>
          </a:xfrm>
          <a:prstGeom prst="ellipse">
            <a:avLst/>
          </a:prstGeom>
          <a:solidFill>
            <a:srgbClr val="2DE2D1"/>
          </a:solidFill>
          <a:ln w="6350">
            <a:solidFill>
              <a:srgbClr val="08131F"/>
            </a:solidFill>
          </a:ln>
        </p:spPr>
      </p:sp>
      <p:sp>
        <p:nvSpPr>
          <p:cNvPr id="115" name="Marker3"/>
          <p:cNvSpPr/>
          <p:nvPr/>
        </p:nvSpPr>
        <p:spPr>
          <a:xfrm>
            <a:off x="6281928" y="4189552"/>
            <a:ext cx="237744" cy="237744"/>
          </a:xfrm>
          <a:prstGeom prst="ellipse">
            <a:avLst/>
          </a:prstGeom>
          <a:solidFill>
            <a:srgbClr val="2DE2D1"/>
          </a:solidFill>
          <a:ln w="6350">
            <a:solidFill>
              <a:srgbClr val="08131F"/>
            </a:solidFill>
          </a:ln>
        </p:spPr>
      </p:sp>
      <p:sp>
        <p:nvSpPr>
          <p:cNvPr id="116" name="Marker4"/>
          <p:cNvSpPr/>
          <p:nvPr/>
        </p:nvSpPr>
        <p:spPr>
          <a:xfrm>
            <a:off x="8796528" y="3439173"/>
            <a:ext cx="237744" cy="237744"/>
          </a:xfrm>
          <a:prstGeom prst="ellipse">
            <a:avLst/>
          </a:prstGeom>
          <a:solidFill>
            <a:srgbClr val="2DE2D1"/>
          </a:solidFill>
          <a:ln w="6350">
            <a:solidFill>
              <a:srgbClr val="08131F"/>
            </a:solidFill>
          </a:ln>
        </p:spPr>
      </p:sp>
      <p:sp>
        <p:nvSpPr>
          <p:cNvPr id="117" name="Marker5"/>
          <p:cNvSpPr/>
          <p:nvPr/>
        </p:nvSpPr>
        <p:spPr>
          <a:xfrm>
            <a:off x="11311128" y="2112264"/>
            <a:ext cx="237744" cy="237744"/>
          </a:xfrm>
          <a:prstGeom prst="ellipse">
            <a:avLst/>
          </a:prstGeom>
          <a:solidFill>
            <a:srgbClr val="2DE2D1"/>
          </a:solidFill>
          <a:ln w="6350">
            <a:solidFill>
              <a:srgbClr val="08131F"/>
            </a:solidFill>
          </a:ln>
        </p:spPr>
      </p:sp>
      <p:sp>
        <p:nvSpPr>
          <p:cNvPr id="118" name="Val1"/>
          <p:cNvSpPr/>
          <p:nvPr/>
        </p:nvSpPr>
        <p:spPr>
          <a:xfrm>
            <a:off x="731520" y="4399030"/>
            <a:ext cx="1280160" cy="274320"/>
          </a:xfrm>
          <a:prstGeom prst="rect">
            <a:avLst/>
          </a:prstGeom>
          <a:noFill/>
          <a:ln/>
        </p:spPr>
        <p:txBody>
          <a:bodyPr wrap="square" lIns="36576" tIns="36576" rIns="36576" bIns="36576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DE2D1"/>
                </a:solidFill>
                <a:latin typeface="Aptos" pitchFamily="34" charset="0"/>
              </a:rPr>
              <a:t>$241K</a:t>
            </a:r>
          </a:p>
        </p:txBody>
      </p:sp>
      <p:sp>
        <p:nvSpPr>
          <p:cNvPr id="119" name="Val2"/>
          <p:cNvSpPr/>
          <p:nvPr/>
        </p:nvSpPr>
        <p:spPr>
          <a:xfrm>
            <a:off x="3246120" y="4265447"/>
            <a:ext cx="1280160" cy="274320"/>
          </a:xfrm>
          <a:prstGeom prst="rect">
            <a:avLst/>
          </a:prstGeom>
          <a:noFill/>
          <a:ln/>
        </p:spPr>
        <p:txBody>
          <a:bodyPr wrap="square" lIns="36576" tIns="36576" rIns="36576" bIns="36576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DE2D1"/>
                </a:solidFill>
                <a:latin typeface="Aptos" pitchFamily="34" charset="0"/>
              </a:rPr>
              <a:t>$1.14M</a:t>
            </a:r>
          </a:p>
        </p:txBody>
      </p:sp>
      <p:sp>
        <p:nvSpPr>
          <p:cNvPr id="120" name="Val3"/>
          <p:cNvSpPr/>
          <p:nvPr/>
        </p:nvSpPr>
        <p:spPr>
          <a:xfrm>
            <a:off x="5760720" y="3896944"/>
            <a:ext cx="1280160" cy="274320"/>
          </a:xfrm>
          <a:prstGeom prst="rect">
            <a:avLst/>
          </a:prstGeom>
          <a:noFill/>
          <a:ln/>
        </p:spPr>
        <p:txBody>
          <a:bodyPr wrap="square" lIns="36576" tIns="36576" rIns="36576" bIns="36576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DE2D1"/>
                </a:solidFill>
                <a:latin typeface="Aptos" pitchFamily="34" charset="0"/>
              </a:rPr>
              <a:t>$3.62M</a:t>
            </a:r>
          </a:p>
        </p:txBody>
      </p:sp>
      <p:sp>
        <p:nvSpPr>
          <p:cNvPr id="121" name="Val4"/>
          <p:cNvSpPr/>
          <p:nvPr/>
        </p:nvSpPr>
        <p:spPr>
          <a:xfrm>
            <a:off x="8275320" y="3146565"/>
            <a:ext cx="1280160" cy="274320"/>
          </a:xfrm>
          <a:prstGeom prst="rect">
            <a:avLst/>
          </a:prstGeom>
          <a:noFill/>
          <a:ln/>
        </p:spPr>
        <p:txBody>
          <a:bodyPr wrap="square" lIns="36576" tIns="36576" rIns="36576" bIns="36576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DE2D1"/>
                </a:solidFill>
                <a:latin typeface="Aptos" pitchFamily="34" charset="0"/>
              </a:rPr>
              <a:t>$8.67M</a:t>
            </a:r>
          </a:p>
        </p:txBody>
      </p:sp>
      <p:sp>
        <p:nvSpPr>
          <p:cNvPr id="122" name="Val5"/>
          <p:cNvSpPr/>
          <p:nvPr/>
        </p:nvSpPr>
        <p:spPr>
          <a:xfrm>
            <a:off x="10789920" y="1819656"/>
            <a:ext cx="1280160" cy="274320"/>
          </a:xfrm>
          <a:prstGeom prst="rect">
            <a:avLst/>
          </a:prstGeom>
          <a:noFill/>
          <a:ln/>
        </p:spPr>
        <p:txBody>
          <a:bodyPr wrap="square" lIns="36576" tIns="36576" rIns="36576" bIns="36576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DE2D1"/>
                </a:solidFill>
                <a:latin typeface="Aptos" pitchFamily="34" charset="0"/>
              </a:rPr>
              <a:t>$17.6M</a:t>
            </a:r>
          </a:p>
        </p:txBody>
      </p:sp>
      <p:sp>
        <p:nvSpPr>
          <p:cNvPr id="123" name="YearLabel1"/>
          <p:cNvSpPr/>
          <p:nvPr/>
        </p:nvSpPr>
        <p:spPr>
          <a:xfrm>
            <a:off x="731520" y="4937760"/>
            <a:ext cx="1280160" cy="274320"/>
          </a:xfrm>
          <a:prstGeom prst="rect">
            <a:avLst/>
          </a:prstGeom>
          <a:noFill/>
          <a:ln/>
        </p:spPr>
        <p:txBody>
          <a:bodyPr wrap="square" lIns="36576" tIns="36576" rIns="36576" bIns="36576" rtlCol="0" anchor="ctr">
            <a:normAutofit/>
          </a:bodyPr>
          <a:lstStyle/>
          <a:p>
            <a:pPr algn="ctr" indent="0" marL="0">
              <a:buNone/>
            </a:pPr>
            <a:r>
              <a:rPr lang="en-US" sz="1400" dirty="0">
                <a:solidFill>
                  <a:srgbClr val="A9BED0"/>
                </a:solidFill>
                <a:latin typeface="Aptos" pitchFamily="34" charset="0"/>
              </a:rPr>
              <a:t>Year 1</a:t>
            </a:r>
          </a:p>
        </p:txBody>
      </p:sp>
      <p:sp>
        <p:nvSpPr>
          <p:cNvPr id="124" name="YearLabel2"/>
          <p:cNvSpPr/>
          <p:nvPr/>
        </p:nvSpPr>
        <p:spPr>
          <a:xfrm>
            <a:off x="3246120" y="4937760"/>
            <a:ext cx="1280160" cy="274320"/>
          </a:xfrm>
          <a:prstGeom prst="rect">
            <a:avLst/>
          </a:prstGeom>
          <a:noFill/>
          <a:ln/>
        </p:spPr>
        <p:txBody>
          <a:bodyPr wrap="square" lIns="36576" tIns="36576" rIns="36576" bIns="36576" rtlCol="0" anchor="ctr">
            <a:normAutofit/>
          </a:bodyPr>
          <a:lstStyle/>
          <a:p>
            <a:pPr algn="ctr" indent="0" marL="0">
              <a:buNone/>
            </a:pPr>
            <a:r>
              <a:rPr lang="en-US" sz="1400" dirty="0">
                <a:solidFill>
                  <a:srgbClr val="A9BED0"/>
                </a:solidFill>
                <a:latin typeface="Aptos" pitchFamily="34" charset="0"/>
              </a:rPr>
              <a:t>Year 2</a:t>
            </a:r>
          </a:p>
        </p:txBody>
      </p:sp>
      <p:sp>
        <p:nvSpPr>
          <p:cNvPr id="125" name="YearLabel3"/>
          <p:cNvSpPr/>
          <p:nvPr/>
        </p:nvSpPr>
        <p:spPr>
          <a:xfrm>
            <a:off x="5760720" y="4937760"/>
            <a:ext cx="1280160" cy="274320"/>
          </a:xfrm>
          <a:prstGeom prst="rect">
            <a:avLst/>
          </a:prstGeom>
          <a:noFill/>
          <a:ln/>
        </p:spPr>
        <p:txBody>
          <a:bodyPr wrap="square" lIns="36576" tIns="36576" rIns="36576" bIns="36576" rtlCol="0" anchor="ctr">
            <a:normAutofit/>
          </a:bodyPr>
          <a:lstStyle/>
          <a:p>
            <a:pPr algn="ctr" indent="0" marL="0">
              <a:buNone/>
            </a:pPr>
            <a:r>
              <a:rPr lang="en-US" sz="1400" dirty="0">
                <a:solidFill>
                  <a:srgbClr val="A9BED0"/>
                </a:solidFill>
                <a:latin typeface="Aptos" pitchFamily="34" charset="0"/>
              </a:rPr>
              <a:t>Year 3</a:t>
            </a:r>
          </a:p>
        </p:txBody>
      </p:sp>
      <p:sp>
        <p:nvSpPr>
          <p:cNvPr id="126" name="YearLabel4"/>
          <p:cNvSpPr/>
          <p:nvPr/>
        </p:nvSpPr>
        <p:spPr>
          <a:xfrm>
            <a:off x="8275320" y="4937760"/>
            <a:ext cx="1280160" cy="274320"/>
          </a:xfrm>
          <a:prstGeom prst="rect">
            <a:avLst/>
          </a:prstGeom>
          <a:noFill/>
          <a:ln/>
        </p:spPr>
        <p:txBody>
          <a:bodyPr wrap="square" lIns="36576" tIns="36576" rIns="36576" bIns="36576" rtlCol="0" anchor="ctr">
            <a:normAutofit/>
          </a:bodyPr>
          <a:lstStyle/>
          <a:p>
            <a:pPr algn="ctr" indent="0" marL="0">
              <a:buNone/>
            </a:pPr>
            <a:r>
              <a:rPr lang="en-US" sz="1400" dirty="0">
                <a:solidFill>
                  <a:srgbClr val="A9BED0"/>
                </a:solidFill>
                <a:latin typeface="Aptos" pitchFamily="34" charset="0"/>
              </a:rPr>
              <a:t>Year 4</a:t>
            </a:r>
          </a:p>
        </p:txBody>
      </p:sp>
      <p:sp>
        <p:nvSpPr>
          <p:cNvPr id="127" name="YearLabel5"/>
          <p:cNvSpPr/>
          <p:nvPr/>
        </p:nvSpPr>
        <p:spPr>
          <a:xfrm>
            <a:off x="10789920" y="4937760"/>
            <a:ext cx="1280160" cy="274320"/>
          </a:xfrm>
          <a:prstGeom prst="rect">
            <a:avLst/>
          </a:prstGeom>
          <a:noFill/>
          <a:ln/>
        </p:spPr>
        <p:txBody>
          <a:bodyPr wrap="square" lIns="36576" tIns="36576" rIns="36576" bIns="36576" rtlCol="0" anchor="ctr">
            <a:normAutofit/>
          </a:bodyPr>
          <a:lstStyle/>
          <a:p>
            <a:pPr algn="ctr" indent="0" marL="0">
              <a:buNone/>
            </a:pPr>
            <a:r>
              <a:rPr lang="en-US" sz="1400" dirty="0">
                <a:solidFill>
                  <a:srgbClr val="A9BED0"/>
                </a:solidFill>
                <a:latin typeface="Aptos" pitchFamily="34" charset="0"/>
              </a:rPr>
              <a:t>Year 5</a:t>
            </a:r>
          </a:p>
        </p:txBody>
      </p:sp>
      <p:sp>
        <p:nvSpPr>
          <p:cNvPr id="128" name="ARRLabel"/>
          <p:cNvSpPr/>
          <p:nvPr/>
        </p:nvSpPr>
        <p:spPr>
          <a:xfrm>
            <a:off x="1371600" y="5349240"/>
            <a:ext cx="1554480" cy="274320"/>
          </a:xfrm>
          <a:prstGeom prst="rect">
            <a:avLst/>
          </a:prstGeom>
          <a:noFill/>
          <a:ln/>
        </p:spPr>
        <p:txBody>
          <a:bodyPr wrap="square" lIns="36576" tIns="36576" rIns="36576" bIns="36576" rtlCol="0" anchor="ctr">
            <a:normAutofit/>
          </a:bodyPr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A9BED0"/>
                </a:solidFill>
                <a:latin typeface="Aptos" pitchFamily="34" charset="0"/>
              </a:rPr>
              <a:t>ARR (recurring):</a:t>
            </a:r>
          </a:p>
        </p:txBody>
      </p:sp>
      <p:sp>
        <p:nvSpPr>
          <p:cNvPr id="129" name="ARRVal1"/>
          <p:cNvSpPr/>
          <p:nvPr/>
        </p:nvSpPr>
        <p:spPr>
          <a:xfrm>
            <a:off x="5760720" y="5349240"/>
            <a:ext cx="1280160" cy="274320"/>
          </a:xfrm>
          <a:prstGeom prst="rect">
            <a:avLst/>
          </a:prstGeom>
          <a:noFill/>
          <a:ln/>
        </p:spPr>
        <p:txBody>
          <a:bodyPr wrap="square" lIns="36576" tIns="36576" rIns="36576" bIns="36576" rtlCol="0" anchor="ctr">
            <a:normAutofit/>
          </a:bodyPr>
          <a:lstStyle/>
          <a:p>
            <a:pPr algn="ctr" indent="0" marL="0">
              <a:buNone/>
            </a:pPr>
            <a:r>
              <a:rPr lang="en-US" sz="1400" dirty="0">
                <a:solidFill>
                  <a:srgbClr val="F4F8FB"/>
                </a:solidFill>
                <a:latin typeface="Aptos" pitchFamily="34" charset="0"/>
              </a:rPr>
              <a:t>$2.4M</a:t>
            </a:r>
          </a:p>
        </p:txBody>
      </p:sp>
      <p:sp>
        <p:nvSpPr>
          <p:cNvPr id="130" name="ARRVal2"/>
          <p:cNvSpPr/>
          <p:nvPr/>
        </p:nvSpPr>
        <p:spPr>
          <a:xfrm>
            <a:off x="8275320" y="5349240"/>
            <a:ext cx="1280160" cy="274320"/>
          </a:xfrm>
          <a:prstGeom prst="rect">
            <a:avLst/>
          </a:prstGeom>
          <a:noFill/>
          <a:ln/>
        </p:spPr>
        <p:txBody>
          <a:bodyPr wrap="square" lIns="36576" tIns="36576" rIns="36576" bIns="36576" rtlCol="0" anchor="ctr">
            <a:normAutofit/>
          </a:bodyPr>
          <a:lstStyle/>
          <a:p>
            <a:pPr algn="ctr" indent="0" marL="0">
              <a:buNone/>
            </a:pPr>
            <a:r>
              <a:rPr lang="en-US" sz="1400" dirty="0">
                <a:solidFill>
                  <a:srgbClr val="F4F8FB"/>
                </a:solidFill>
                <a:latin typeface="Aptos" pitchFamily="34" charset="0"/>
              </a:rPr>
              <a:t>$6.2M</a:t>
            </a:r>
          </a:p>
        </p:txBody>
      </p:sp>
      <p:sp>
        <p:nvSpPr>
          <p:cNvPr id="131" name="ARRVal3"/>
          <p:cNvSpPr/>
          <p:nvPr/>
        </p:nvSpPr>
        <p:spPr>
          <a:xfrm>
            <a:off x="10789920" y="5349240"/>
            <a:ext cx="1280160" cy="274320"/>
          </a:xfrm>
          <a:prstGeom prst="rect">
            <a:avLst/>
          </a:prstGeom>
          <a:noFill/>
          <a:ln/>
        </p:spPr>
        <p:txBody>
          <a:bodyPr wrap="square" lIns="36576" tIns="36576" rIns="36576" bIns="36576" rtlCol="0" anchor="ctr">
            <a:normAutofit/>
          </a:bodyPr>
          <a:lstStyle/>
          <a:p>
            <a:pPr algn="ctr" indent="0" marL="0">
              <a:buNone/>
            </a:pPr>
            <a:r>
              <a:rPr lang="en-US" sz="1400" dirty="0">
                <a:solidFill>
                  <a:srgbClr val="F4F8FB"/>
                </a:solidFill>
                <a:latin typeface="Aptos" pitchFamily="34" charset="0"/>
              </a:rPr>
              <a:t>$13.4M</a:t>
            </a:r>
          </a:p>
        </p:txBody>
      </p:sp>
      <p:sp>
        <p:nvSpPr>
          <p:cNvPr id="132" name="ChartTitle"/>
          <p:cNvSpPr/>
          <p:nvPr/>
        </p:nvSpPr>
        <p:spPr>
          <a:xfrm>
            <a:off x="1371600" y="1417320"/>
            <a:ext cx="10058400" cy="365760"/>
          </a:xfrm>
          <a:prstGeom prst="rect">
            <a:avLst/>
          </a:prstGeom>
          <a:noFill/>
          <a:ln/>
        </p:spPr>
        <p:txBody>
          <a:bodyPr wrap="square" lIns="36576" tIns="36576" rIns="36576" bIns="36576" rtlCol="0" anchor="ctr">
            <a:normAutofit/>
          </a:bodyPr>
          <a:lstStyle/>
          <a:p>
            <a:pPr algn="l" indent="0" marL="0">
              <a:buNone/>
            </a:pPr>
            <a:r>
              <a:rPr lang="en-US" sz="1600" dirty="0">
                <a:solidFill>
                  <a:srgbClr val="F4F8FB"/>
                </a:solidFill>
                <a:latin typeface="Aptos" pitchFamily="34" charset="0"/>
              </a:rPr>
              <a:t>Revenue trajectory  -  $241K to $17.6M  -  ~135% CAGR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813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131F"/>
          </a:solidFill>
          <a:ln w="12700">
            <a:solidFill>
              <a:srgbClr val="08131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64008" cy="6858000"/>
          </a:xfrm>
          <a:prstGeom prst="rect">
            <a:avLst/>
          </a:prstGeom>
          <a:solidFill>
            <a:srgbClr val="2DE2D1"/>
          </a:solidFill>
          <a:ln w="12700">
            <a:solidFill>
              <a:srgbClr val="2DE2D1">
                <a:alpha val="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94360" y="320040"/>
            <a:ext cx="7132320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F4F8F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The ask: fund the first commercial proof of the authority-layer thesis</a:t>
            </a:r>
            <a:endParaRPr lang="en-US" sz="2700" dirty="0"/>
          </a:p>
        </p:txBody>
      </p:sp>
      <p:sp>
        <p:nvSpPr>
          <p:cNvPr id="8" name="Text 6"/>
          <p:cNvSpPr/>
          <p:nvPr/>
        </p:nvSpPr>
        <p:spPr>
          <a:xfrm>
            <a:off x="612648" y="877824"/>
            <a:ext cx="7772400" cy="320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250" dirty="0">
                <a:solidFill>
                  <a:srgbClr val="A9B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of funds is intentionally narrow: pilots, product hardening, and partner-ready delivery.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868680" y="1417320"/>
            <a:ext cx="3063240" cy="4343400"/>
          </a:xfrm>
          <a:prstGeom prst="roundRect">
            <a:avLst>
              <a:gd name="adj" fmla="val 2388"/>
            </a:avLst>
          </a:prstGeom>
          <a:solidFill>
            <a:srgbClr val="06111C">
              <a:alpha val="95000"/>
            </a:srgbClr>
          </a:solidFill>
          <a:ln w="12700">
            <a:solidFill>
              <a:srgbClr val="F6C65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0" y="1700784"/>
            <a:ext cx="2606040" cy="274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6C65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Raise target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097280" y="2194560"/>
            <a:ext cx="2377440" cy="8229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$1.0M strategic pre-seed / seed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1097280" y="3246120"/>
            <a:ext cx="2331720" cy="7315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220" dirty="0">
                <a:solidFill>
                  <a:srgbClr val="A9B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Flexible structure: priced equity, SAFE, convertible, or BFTP/angel-led tranche. BFTP-tier proposal: $150–350K (detailed allocation in companion talking-points doc).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4572000" y="1417320"/>
            <a:ext cx="3063240" cy="4343400"/>
          </a:xfrm>
          <a:prstGeom prst="roundRect">
            <a:avLst>
              <a:gd name="adj" fmla="val 2388"/>
            </a:avLst>
          </a:prstGeom>
          <a:solidFill>
            <a:srgbClr val="06111C">
              <a:alpha val="95000"/>
            </a:srgbClr>
          </a:solidFill>
          <a:ln w="12700">
            <a:solidFill>
              <a:srgbClr val="2DE2D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800600" y="1700784"/>
            <a:ext cx="2606040" cy="274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DE2D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12-month goals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4809744" y="2212848"/>
            <a:ext cx="2331720" cy="16459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3–5 paid Ratatosk workshops
</a:t>
            </a:r>
            <a:pPr indent="0" marL="0">
              <a:buNone/>
            </a:pPr>
            <a:r>
              <a:rPr lang="en-US" sz="130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First 2 Yggdrasil Validation Cohort pilots
</a:t>
            </a:r>
            <a:pPr indent="0" marL="0">
              <a:buNone/>
            </a:pPr>
            <a:r>
              <a:rPr lang="en-US" sz="130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Wave-1 OPE rollout (Finance / Quality / Purchasing)
</a:t>
            </a:r>
            <a:pPr indent="0" marL="0">
              <a:buNone/>
            </a:pPr>
            <a:r>
              <a:rPr lang="en-US" sz="130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SOC 2 Type I + first engineering hire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8275320" y="1417320"/>
            <a:ext cx="3063240" cy="4343400"/>
          </a:xfrm>
          <a:prstGeom prst="roundRect">
            <a:avLst>
              <a:gd name="adj" fmla="val 2388"/>
            </a:avLst>
          </a:prstGeom>
          <a:solidFill>
            <a:srgbClr val="06111C">
              <a:alpha val="95000"/>
            </a:srgbClr>
          </a:solidFill>
          <a:ln w="12700">
            <a:solidFill>
              <a:srgbClr val="2DE2D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503920" y="1700784"/>
            <a:ext cx="2606040" cy="274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DE2D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of funds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8513064" y="2212848"/>
            <a:ext cx="2331720" cy="16459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First engineering hire (founder to BD + delivery)
</a:t>
            </a:r>
            <a:pPr indent="0" marL="0">
              <a:buNone/>
            </a:pPr>
            <a:r>
              <a:rPr lang="en-US" sz="130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Pilot delivery + SOC 2 readiness
</a:t>
            </a:r>
            <a:pPr indent="0" marL="0">
              <a:buNone/>
            </a:pPr>
            <a:r>
              <a:rPr lang="en-US" sz="130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PA manufacturing outbound (MANTEC, trade shows, digital)
</a:t>
            </a:r>
            <a:pPr indent="0" marL="0">
              <a:buNone/>
            </a:pPr>
            <a:r>
              <a:rPr lang="en-US" sz="130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Founder bridge ($4K/mo) + operating reserve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1051560" y="6053328"/>
            <a:ext cx="10149840" cy="320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ctr" indent="0" marL="0">
              <a:buNone/>
            </a:pPr>
            <a:r>
              <a:rPr lang="en-US" sz="1730" b="1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Mimir Labs has already built the reference implementation. This raise funds the first commercial proof — not the architecture, the customers.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594360" y="6473952"/>
            <a:ext cx="2926080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850" dirty="0">
                <a:solidFill>
                  <a:srgbClr val="6F889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Mimir Labs • Investor Deck</a:t>
            </a:r>
            <a:endParaRPr lang="en-US" sz="850" dirty="0"/>
          </a:p>
        </p:txBody>
      </p:sp>
      <p:sp>
        <p:nvSpPr>
          <p:cNvPr id="21" name="Text 19"/>
          <p:cNvSpPr/>
          <p:nvPr/>
        </p:nvSpPr>
        <p:spPr>
          <a:xfrm>
            <a:off x="11292840" y="6473952"/>
            <a:ext cx="411480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r" indent="0" marL="0">
              <a:buNone/>
            </a:pPr>
            <a:r>
              <a:rPr lang="en-US" sz="850" dirty="0">
                <a:solidFill>
                  <a:srgbClr val="6F889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13</a:t>
            </a:r>
            <a:endParaRPr lang="en-US" sz="8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813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131F"/>
          </a:solidFill>
          <a:ln w="12700">
            <a:solidFill>
              <a:srgbClr val="08131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64008" cy="6858000"/>
          </a:xfrm>
          <a:prstGeom prst="rect">
            <a:avLst/>
          </a:prstGeom>
          <a:solidFill>
            <a:srgbClr val="2DE2D1"/>
          </a:solidFill>
          <a:ln w="12700">
            <a:solidFill>
              <a:srgbClr val="2DE2D1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58368" y="502920"/>
            <a:ext cx="2788920" cy="320040"/>
          </a:xfrm>
          <a:prstGeom prst="roundRect">
            <a:avLst>
              <a:gd name="adj" fmla="val 17143"/>
            </a:avLst>
          </a:prstGeom>
          <a:solidFill>
            <a:srgbClr val="2DE2D1">
              <a:alpha val="88000"/>
            </a:srgbClr>
          </a:solidFill>
          <a:ln w="12700">
            <a:solidFill>
              <a:srgbClr val="2DE2D1">
                <a:alpha val="9000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68096" y="576072"/>
            <a:ext cx="2569464" cy="17373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ctr" indent="0" marL="0">
              <a:buNone/>
            </a:pPr>
            <a:r>
              <a:rPr lang="en-US" sz="870" b="1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ERP that doesn't believe in edge cases.</a:t>
            </a:r>
            <a:endParaRPr lang="en-US" sz="870" dirty="0"/>
          </a:p>
        </p:txBody>
      </p:sp>
      <p:sp>
        <p:nvSpPr>
          <p:cNvPr id="9" name="Text 7"/>
          <p:cNvSpPr/>
          <p:nvPr/>
        </p:nvSpPr>
        <p:spPr>
          <a:xfrm>
            <a:off x="658368" y="1051560"/>
            <a:ext cx="3840480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4F8F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Mimir Labs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658368" y="1600200"/>
            <a:ext cx="7863840" cy="11430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3500" b="1" dirty="0">
                <a:solidFill>
                  <a:srgbClr val="F4F8F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WE'VE ALREADY BUILT IT.</a:t>
            </a:r>
            <a:endParaRPr lang="en-US" sz="3500" dirty="0"/>
          </a:p>
        </p:txBody>
      </p:sp>
      <p:sp>
        <p:nvSpPr>
          <p:cNvPr id="11" name="Text 9"/>
          <p:cNvSpPr/>
          <p:nvPr/>
        </p:nvSpPr>
        <p:spPr>
          <a:xfrm>
            <a:off x="685800" y="2907792"/>
            <a:ext cx="6583680" cy="5943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600" dirty="0">
                <a:solidFill>
                  <a:srgbClr val="A9B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$1.0M strategic pre-seed. BFTP tranche: $150–350K. Detailed allocation in companion talking-points doc.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658368" y="4160520"/>
            <a:ext cx="3017520" cy="1234440"/>
          </a:xfrm>
          <a:prstGeom prst="roundRect">
            <a:avLst>
              <a:gd name="adj" fmla="val 5926"/>
            </a:avLst>
          </a:prstGeom>
          <a:solidFill>
            <a:srgbClr val="06111C"/>
          </a:solidFill>
          <a:ln w="12700">
            <a:solidFill>
              <a:srgbClr val="2DE2D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68680" y="4416552"/>
            <a:ext cx="2560320" cy="320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Closing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868680" y="4800600"/>
            <a:ext cx="2560320" cy="34747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A9B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Christopher "Doc" Gaither — cgaither@mimirlabs.net — mimirlabs.net — South Central Pennsylvania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594360" y="6473952"/>
            <a:ext cx="2926080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850" dirty="0">
                <a:solidFill>
                  <a:srgbClr val="6F889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Mimir Labs • Investor Deck</a:t>
            </a:r>
            <a:endParaRPr lang="en-US" sz="850" dirty="0"/>
          </a:p>
        </p:txBody>
      </p:sp>
      <p:sp>
        <p:nvSpPr>
          <p:cNvPr id="16" name="Text 14"/>
          <p:cNvSpPr/>
          <p:nvPr/>
        </p:nvSpPr>
        <p:spPr>
          <a:xfrm>
            <a:off x="11292840" y="6473952"/>
            <a:ext cx="411480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r" indent="0" marL="0">
              <a:buNone/>
            </a:pPr>
            <a:r>
              <a:rPr lang="en-US" sz="850" dirty="0">
                <a:solidFill>
                  <a:srgbClr val="6F889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14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Mimir Labs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Mimir Labs Investor Deck</dc:title>
  <dc:subject>Investor Deck</dc:subject>
  <dc:creator>Mimir Labs</dc:creator>
  <cp:lastModifiedBy>Mimir Labs</cp:lastModifiedBy>
  <cp:revision>1</cp:revision>
  <dcterms:created xsi:type="dcterms:W3CDTF">2026-05-11T12:04:47Z</dcterms:created>
  <dcterms:modified xsi:type="dcterms:W3CDTF">2026-05-11T12:04:47Z</dcterms:modified>
</cp:coreProperties>
</file>