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6"/>
    <p:sldId id="265" r:id="rId11"/>
    <p:sldId id="266" r:id="rId12"/>
    <p:sldId id="271" r:id="rId17"/>
    <p:sldId id="268" r:id="rId14"/>
    <p:sldId id="267" r:id="rId13"/>
    <p:sldId id="272" r:id="rId18"/>
    <p:sldId id="273" r:id="rId19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is the wedge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short-cycle diagnostic that exposes semantic drift and authority conflicts before implementation hardens them.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137160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27632"/>
            <a:ext cx="2286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2688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 schemas and exports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 models and reports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and shadow systems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maps and process artifacts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1888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workshop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2803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Semantic extraction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Stakeholder validation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Concept ownership mapping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Authority conflict detection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1371600"/>
            <a:ext cx="2788920" cy="4343400"/>
          </a:xfrm>
          <a:prstGeom prst="roundRect">
            <a:avLst>
              <a:gd name="adj" fmla="val 2623"/>
            </a:avLst>
          </a:prstGeom>
          <a:solidFill>
            <a:srgbClr val="06111C">
              <a:alpha val="92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50808" y="1627632"/>
            <a:ext cx="23317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759952" y="2121408"/>
            <a:ext cx="224028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Executive governance summary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 &amp; redundancy report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Governance usage map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governance manifest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3456432"/>
            <a:ext cx="1005840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14400" y="598932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is built and ready to sell. $5–12.5K workshop fee, credits 1:1 against Yggdrasil activation.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Ratatosk produces the artifacts every implementation wishes it had earlier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canonical map before migration, integration, compliance, or AI deployment.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Governance Summary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Board/CIO view of structural risk and priority actions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Taxonomy Distribution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data structures concentrate by domain and business concept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Usage Map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systems use which concepts and where ownership is unclear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 &amp; Redundancy Report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Duplicate, overlapping, or contradictory enterprise meanings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Governance Manifest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Machine-readable authority map for downstream implementation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Ecosystem Map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system topology and integration risk surface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manifest becomes the bridge into Yggdrasil ERP, OPE, migration, synchronization, and partner delivery.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Yggdrasil ERP: the reference implementation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governance-first ERP designed around canonical meaning, state validity, and auditability. A reference implementation of the CAIP-HE framework.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design principles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Qt 6 desktop client + Next.js web app, both shipping in alpha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Canonical schema (323 tables, 10 modules) as living substrate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Strict validation at ingress; no custom fields permitted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OPE-signed Policies enforced on every state transition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log; RedPanda B2B event mesh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 now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Manufacturers can't trust their own data after years of customization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SOX, ITAR demand provenance, not screenshots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drifted data multiplies bad decisions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Substrate-level governance is the only durable fix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is the working reference implementation of the CAIP-HE framework — built, running, and shipping in alpha today.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Norn: contract document intelligence today, OPE-integrated tomorrow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pilot offering now (Business tier). Roadmap: contract obligations become OPE Policy candidates the Yggdrasil runtime enforces directly.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Contract authoring + signing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tier: $299/mo Business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5-org pilot cap (none signed)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Standalone web app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extraction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requirements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and exceptions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75320" y="1417320"/>
            <a:ext cx="3108960" cy="4114800"/>
          </a:xfrm>
          <a:prstGeom prst="roundRect">
            <a:avLst>
              <a:gd name="adj" fmla="val 2353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700784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→ OPE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22208" y="2148840"/>
            <a:ext cx="2240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Obligations → Policy candidates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Evidence → Constraint inputs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Milestones → Workflow templates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Renewals → Effective-date triggers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91363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62672" y="3429000"/>
            <a:ext cx="512064" cy="0"/>
          </a:xfrm>
          <a:prstGeom prst="line">
            <a:avLst/>
          </a:prstGeom>
          <a:noFill/>
          <a:ln w="2286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5840" y="5852160"/>
            <a:ext cx="1014984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and Microsoft can help create and sign documents. Norn tells the operating system what the signed document now requires.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market: regulated operations with visible authority pain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sells into the moment when migration, compliance, integration, or AI makes ambiguity expensive.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Defense-adjacent manufacturing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899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CMMC, CUI, audit traceability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Aerospace &amp; precision machining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899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AS9100, first article, quality gates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6400800" y="150876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56832" y="171907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 manufacturing corridor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11226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MANTEC member network, MEP, 50–500 employee shops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6400800" y="3246120"/>
            <a:ext cx="4983480" cy="1234440"/>
          </a:xfrm>
          <a:prstGeom prst="roundRect">
            <a:avLst>
              <a:gd name="adj" fmla="val 5926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56832" y="3456432"/>
            <a:ext cx="44805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partners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56832" y="3849624"/>
            <a:ext cx="41605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SIs, ERP consultants, fractional CIOs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1097280" y="5074920"/>
            <a:ext cx="9966960" cy="685800"/>
          </a:xfrm>
          <a:prstGeom prst="roundRect">
            <a:avLst>
              <a:gd name="adj" fmla="val 10667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5276088"/>
            <a:ext cx="92354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Near-term wedge: paid Ratatosk diagnostics convert into Yggdrasil Validation Cohort pilots. PA-grown product for PA-grown manufacturers.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16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16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16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16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73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 — Global manufacturing ERP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$10B+ market in 2024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8–10% CAGR through end of decade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ERP market $281B by 2034 (Fortune)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Digital transformation + Industry 4.0 tailwinds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 — Mid-market manufacturing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10–500 employee shops, US + EU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~30–40% of revenue, ~80% of customers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Concentrated in discrete + mixed-mode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AS9100, CMMC, ISO, ITAR regulated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 — PA + adjacent reachable in 36 months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~3,500 qualifying manufacturers in PA / OH / MD / NJ / NY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Target: 50–150 paying customers by Year 5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Wedge via Ratatosk workshops; convert ~30% to platform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PA-grown, MANTEC-aligned, US-hosted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0" y="137160"/>
            <a:ext cx="3611880" cy="3611880"/>
          </a:xfrm>
          <a:prstGeom prst="arc">
            <a:avLst/>
          </a:prstGeom>
          <a:solidFill>
            <a:srgbClr val="08131F">
              <a:alpha val="0"/>
            </a:srgbClr>
          </a:solidFill>
          <a:ln w="13970">
            <a:solidFill>
              <a:srgbClr val="123D5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475488"/>
            <a:ext cx="2834640" cy="2834640"/>
          </a:xfrm>
          <a:prstGeom prst="arc">
            <a:avLst/>
          </a:prstGeom>
          <a:solidFill>
            <a:srgbClr val="08131F">
              <a:alpha val="0"/>
            </a:srgbClr>
          </a:solidFill>
          <a:ln w="10160">
            <a:solidFill>
              <a:srgbClr val="2DE2D1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731520"/>
            <a:ext cx="3291840" cy="0"/>
          </a:xfrm>
          <a:prstGeom prst="line">
            <a:avLst/>
          </a:prstGeom>
          <a:noFill/>
          <a:ln w="12700">
            <a:solidFill>
              <a:srgbClr val="123D5A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